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</p:sldIdLst>
  <p:sldSz cx="12191365" cy="6858000"/>
  <p:notesSz cx="6858000" cy="1219136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7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6.xml.rels><?xml version='1.0' encoding='utf-8'?>
<ns0:Relationships xmlns:ns0="http://schemas.openxmlformats.org/package/2006/relationships"><ns0:Relationship Id="rId3" Type="http://schemas.openxmlformats.org/officeDocument/2006/relationships/notesSlide" Target="../notesSlides/notesSlide6.xml" /><ns0:Relationship Id="rId2" Type="http://schemas.openxmlformats.org/officeDocument/2006/relationships/slideLayout" Target="../slideLayouts/slideLayout1.xml" /><ns0:Relationship Id="rId1" Type="http://schemas.openxmlformats.org/officeDocument/2006/relationships/image" Target="../media/image2.png" /><Relationship Id="rId4" Type="http://schemas.openxmlformats.org/officeDocument/2006/relationships/image" Target="../media/v3_architecture.png" /></ns0: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10.xml.rels><?xml version='1.0' encoding='utf-8'?>
<ns0:Relationships xmlns:ns0="http://schemas.openxmlformats.org/package/2006/relationships"><ns0:Relationship Id="rId3" Type="http://schemas.openxmlformats.org/officeDocument/2006/relationships/notesSlide" Target="../notesSlides/notesSlide10.xml" /><ns0:Relationship Id="rId2" Type="http://schemas.openxmlformats.org/officeDocument/2006/relationships/slideLayout" Target="../slideLayouts/slideLayout1.xml" /><ns0:Relationship Id="rId1" Type="http://schemas.openxmlformats.org/officeDocument/2006/relationships/image" Target="../media/image2.png" /><Relationship Id="rId4" Type="http://schemas.openxmlformats.org/officeDocument/2006/relationships/image" Target="../media/v3_profile_flow.png" /></ns0:Relationships>
</file>

<file path=ppt/slides/_rels/slide11.xml.rels><?xml version='1.0' encoding='utf-8'?>
<ns0:Relationships xmlns:ns0="http://schemas.openxmlformats.org/package/2006/relationships"><ns0:Relationship Id="rId3" Type="http://schemas.openxmlformats.org/officeDocument/2006/relationships/notesSlide" Target="../notesSlides/notesSlide11.xml" /><ns0:Relationship Id="rId2" Type="http://schemas.openxmlformats.org/officeDocument/2006/relationships/slideLayout" Target="../slideLayouts/slideLayout1.xml" /><ns0:Relationship Id="rId1" Type="http://schemas.openxmlformats.org/officeDocument/2006/relationships/image" Target="../media/image2.png" /><Relationship Id="rId4" Type="http://schemas.openxmlformats.org/officeDocument/2006/relationships/image" Target="../media/v3_recommend_flow.png" /></ns0: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13.xml.rels><?xml version='1.0' encoding='utf-8'?>
<ns0:Relationships xmlns:ns0="http://schemas.openxmlformats.org/package/2006/relationships"><ns0:Relationship Id="rId3" Type="http://schemas.openxmlformats.org/officeDocument/2006/relationships/notesSlide" Target="../notesSlides/notesSlide13.xml" /><ns0:Relationship Id="rId2" Type="http://schemas.openxmlformats.org/officeDocument/2006/relationships/slideLayout" Target="../slideLayouts/slideLayout1.xml" /><ns0:Relationship Id="rId1" Type="http://schemas.openxmlformats.org/officeDocument/2006/relationships/image" Target="../media/image2.png" /><Relationship Id="rId4" Type="http://schemas.openxmlformats.org/officeDocument/2006/relationships/image" Target="../media/v3_explain_feedback_flow.png" /></ns0: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1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0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heybox/code/bishe/xunzhiyin/lcj-tmp/ppt_media_probe/image10.jpeg"/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8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12191695" cy="237744"/>
          </a:xfrm>
          <a:prstGeom prst="rect">
            <a:avLst/>
          </a:prstGeom>
          <a:solidFill>
            <a:srgbClr val="1D8EC0"/>
          </a:solidFill>
          <a:ln w="12700">
            <a:solidFill>
              <a:srgbClr val="1D8EC0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13232" y="1170432"/>
            <a:ext cx="7882128" cy="2926080"/>
          </a:xfrm>
          <a:prstGeom prst="roundRect">
            <a:avLst>
              <a:gd name="adj" fmla="val 2500"/>
            </a:avLst>
          </a:prstGeom>
          <a:solidFill>
            <a:srgbClr val="FFFFFF">
              <a:alpha val="9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60120" y="1426464"/>
            <a:ext cx="7315200" cy="1444752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00" b="1" dirty="0">
                <a:solidFill>
                  <a:srgbClr val="0B4F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基于 Spring Boot 的校园社交匹配与可解释推荐系统的设计与实现</a:t>
            </a:r>
            <a:endParaRPr lang="en-US" sz="3100" dirty="0"/>
          </a:p>
        </p:txBody>
      </p:sp>
      <p:sp>
        <p:nvSpPr>
          <p:cNvPr id="7" name="Text 4"/>
          <p:cNvSpPr/>
          <p:nvPr/>
        </p:nvSpPr>
        <p:spPr>
          <a:xfrm>
            <a:off x="987552" y="3063240"/>
            <a:ext cx="2743200" cy="411480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1D8E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毕业设计答辩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987552" y="4133088"/>
            <a:ext cx="6035040" cy="914400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2000" dirty="0">
                <a:solidFill>
                  <a:srgbClr val="2632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学院：软件学院    专业：软件工程</a:t>
            </a:r>
            <a:endParaRPr lang="en-US" sz="20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2000" dirty="0">
                <a:solidFill>
                  <a:srgbClr val="2632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姓名：林乘吉      学号：22301095</a:t>
            </a:r>
            <a:endParaRPr lang="en-US" sz="20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2000" dirty="0">
                <a:solidFill>
                  <a:srgbClr val="2632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2026年6月</a:t>
            </a:r>
            <a:endParaRPr lang="en-US" sz="2000" dirty="0"/>
          </a:p>
        </p:txBody>
      </p:sp>
      <p:pic>
        <p:nvPicPr>
          <p:cNvPr id="9" name="Image 1" descr="/Users/heybox/code/bishe/xunzhiyin/lcj-tmp/ppt_media_probe/image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8432" y="5797296"/>
            <a:ext cx="27432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D8EC0"/>
          </a:solidFill>
          <a:ln w="12700">
            <a:solidFill>
              <a:srgbClr val="1D8E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365760" y="-502920"/>
            <a:ext cx="2011680" cy="1005840"/>
          </a:xfrm>
          <a:prstGeom prst="arc">
            <a:avLst/>
          </a:prstGeom>
          <a:noFill/>
          <a:ln w="25400">
            <a:solidFill>
              <a:srgbClr val="57C6D9">
                <a:alpha val="7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292608"/>
            <a:ext cx="9235440" cy="457200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b="1" dirty="0">
                <a:solidFill>
                  <a:srgbClr val="0B4F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汇报目录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58368" y="822960"/>
            <a:ext cx="1143000" cy="0"/>
          </a:xfrm>
          <a:prstGeom prst="line">
            <a:avLst/>
          </a:prstGeom>
          <a:noFill/>
          <a:ln w="38100">
            <a:solidFill>
              <a:srgbClr val="57C6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01952" y="676656"/>
            <a:ext cx="6400800" cy="292608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5F6F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Contents</a:t>
            </a:r>
            <a:endParaRPr lang="en-US" sz="1300" dirty="0"/>
          </a:p>
        </p:txBody>
      </p:sp>
      <p:pic>
        <p:nvPicPr>
          <p:cNvPr id="7" name="Image 0" descr="/Users/heybox/code/bishe/xunzhiyin/lcj-tmp/ppt_media_probe/image9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12096" y="6272784"/>
            <a:ext cx="1993392" cy="66751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6355080"/>
            <a:ext cx="1097280" cy="228600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6B7D8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 / 20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914400" y="1417320"/>
            <a:ext cx="466344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6EBF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143000" y="1673352"/>
            <a:ext cx="731520" cy="457200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00" b="1" dirty="0">
                <a:solidFill>
                  <a:srgbClr val="57C6D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</a:t>
            </a: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1938528" y="1655064"/>
            <a:ext cx="3474720" cy="347472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0B4F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背景、市场与目标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1938528" y="2112264"/>
            <a:ext cx="3794760" cy="566928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5F6F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3-5 页：演进、市场、项目目标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6172200" y="1417320"/>
            <a:ext cx="466344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6EBF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00800" y="1673352"/>
            <a:ext cx="731520" cy="457200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00" b="1" dirty="0">
                <a:solidFill>
                  <a:srgbClr val="57C6D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</a:t>
            </a:r>
            <a:endParaRPr lang="en-US" sz="3000" dirty="0"/>
          </a:p>
        </p:txBody>
      </p:sp>
      <p:sp>
        <p:nvSpPr>
          <p:cNvPr id="15" name="Text 12"/>
          <p:cNvSpPr/>
          <p:nvPr/>
        </p:nvSpPr>
        <p:spPr>
          <a:xfrm>
            <a:off x="7196328" y="1655064"/>
            <a:ext cx="3474720" cy="347472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0B4F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架构与工程方案</a:t>
            </a:r>
            <a:endParaRPr lang="en-US" sz="2400" dirty="0"/>
          </a:p>
        </p:txBody>
      </p:sp>
      <p:sp>
        <p:nvSpPr>
          <p:cNvPr id="16" name="Text 13"/>
          <p:cNvSpPr/>
          <p:nvPr/>
        </p:nvSpPr>
        <p:spPr>
          <a:xfrm>
            <a:off x="7196328" y="2112264"/>
            <a:ext cx="3794760" cy="566928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5F6F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6-13 页：架构、流程、场景机制</a:t>
            </a:r>
            <a:endParaRPr lang="en-US" sz="1700" dirty="0"/>
          </a:p>
        </p:txBody>
      </p:sp>
      <p:sp>
        <p:nvSpPr>
          <p:cNvPr id="17" name="Shape 14"/>
          <p:cNvSpPr/>
          <p:nvPr/>
        </p:nvSpPr>
        <p:spPr>
          <a:xfrm>
            <a:off x="914400" y="3566160"/>
            <a:ext cx="466344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6EBF2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143000" y="3822192"/>
            <a:ext cx="731520" cy="457200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00" b="1" dirty="0">
                <a:solidFill>
                  <a:srgbClr val="57C6D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</a:t>
            </a:r>
            <a:endParaRPr lang="en-US" sz="3000" dirty="0"/>
          </a:p>
        </p:txBody>
      </p:sp>
      <p:sp>
        <p:nvSpPr>
          <p:cNvPr id="19" name="Text 16"/>
          <p:cNvSpPr/>
          <p:nvPr/>
        </p:nvSpPr>
        <p:spPr>
          <a:xfrm>
            <a:off x="1938528" y="3803904"/>
            <a:ext cx="3474720" cy="347472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0B4F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演示与测试</a:t>
            </a:r>
            <a:endParaRPr lang="en-US" sz="2400" dirty="0"/>
          </a:p>
        </p:txBody>
      </p:sp>
      <p:sp>
        <p:nvSpPr>
          <p:cNvPr id="20" name="Text 17"/>
          <p:cNvSpPr/>
          <p:nvPr/>
        </p:nvSpPr>
        <p:spPr>
          <a:xfrm>
            <a:off x="1938528" y="4261104"/>
            <a:ext cx="3794760" cy="566928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5F6F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14-17 页：界面、演示、指标验证</a:t>
            </a:r>
            <a:endParaRPr lang="en-US" sz="1700" dirty="0"/>
          </a:p>
        </p:txBody>
      </p:sp>
      <p:sp>
        <p:nvSpPr>
          <p:cNvPr id="21" name="Shape 18"/>
          <p:cNvSpPr/>
          <p:nvPr/>
        </p:nvSpPr>
        <p:spPr>
          <a:xfrm>
            <a:off x="6172200" y="3566160"/>
            <a:ext cx="466344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6EBF2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400800" y="3822192"/>
            <a:ext cx="731520" cy="457200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00" b="1" dirty="0">
                <a:solidFill>
                  <a:srgbClr val="57C6D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</a:t>
            </a:r>
            <a:endParaRPr lang="en-US" sz="3000" dirty="0"/>
          </a:p>
        </p:txBody>
      </p:sp>
      <p:sp>
        <p:nvSpPr>
          <p:cNvPr id="23" name="Text 20"/>
          <p:cNvSpPr/>
          <p:nvPr/>
        </p:nvSpPr>
        <p:spPr>
          <a:xfrm>
            <a:off x="7196328" y="3803904"/>
            <a:ext cx="3474720" cy="347472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0B4F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亮点、总结与展望</a:t>
            </a:r>
            <a:endParaRPr lang="en-US" sz="2400" dirty="0"/>
          </a:p>
        </p:txBody>
      </p:sp>
      <p:sp>
        <p:nvSpPr>
          <p:cNvPr id="24" name="Text 21"/>
          <p:cNvSpPr/>
          <p:nvPr/>
        </p:nvSpPr>
        <p:spPr>
          <a:xfrm>
            <a:off x="7196328" y="4261104"/>
            <a:ext cx="3794760" cy="566928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5F6F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18-20 页：难点、展望、致谢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D8EC0"/>
          </a:solidFill>
          <a:ln w="12700">
            <a:solidFill>
              <a:srgbClr val="1D8E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365760" y="-502920"/>
            <a:ext cx="2011680" cy="1005840"/>
          </a:xfrm>
          <a:prstGeom prst="arc">
            <a:avLst/>
          </a:prstGeom>
          <a:noFill/>
          <a:ln w="25400">
            <a:solidFill>
              <a:srgbClr val="57C6D9">
                <a:alpha val="7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292608"/>
            <a:ext cx="9235440" cy="457200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b="1" dirty="0">
                <a:solidFill>
                  <a:srgbClr val="0B4F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推荐系统工程演进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58368" y="822960"/>
            <a:ext cx="1143000" cy="0"/>
          </a:xfrm>
          <a:prstGeom prst="line">
            <a:avLst/>
          </a:prstGeom>
          <a:noFill/>
          <a:ln w="38100">
            <a:solidFill>
              <a:srgbClr val="57C6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01952" y="676656"/>
            <a:ext cx="6400800" cy="292608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5F6F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从规则匹配到可解释推荐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9308592" y="384048"/>
            <a:ext cx="1901952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0160">
            <a:solidFill>
              <a:srgbClr val="B9E3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454896" y="457200"/>
            <a:ext cx="1609344" cy="1371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1D8E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 背景与目标</a:t>
            </a:r>
            <a:endParaRPr lang="en-US" sz="1000" dirty="0"/>
          </a:p>
        </p:txBody>
      </p:sp>
      <p:pic>
        <p:nvPicPr>
          <p:cNvPr id="9" name="Image 0" descr="/Users/heybox/code/bishe/xunzhiyin/lcj-tmp/ppt_media_probe/image9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12096" y="6272784"/>
            <a:ext cx="1993392" cy="66751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58368" y="6355080"/>
            <a:ext cx="1097280" cy="228600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6B7D8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 / 20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822960" y="1261872"/>
            <a:ext cx="516636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CEEF4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22960" y="1261872"/>
            <a:ext cx="118872" cy="1874520"/>
          </a:xfrm>
          <a:prstGeom prst="rect">
            <a:avLst/>
          </a:prstGeom>
          <a:solidFill>
            <a:srgbClr val="0B4F8A"/>
          </a:solidFill>
          <a:ln w="12700">
            <a:solidFill>
              <a:srgbClr val="0B4F8A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078992" y="1426464"/>
            <a:ext cx="4754880" cy="310896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0B4F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规则匹配阶段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1078992" y="1856232"/>
            <a:ext cx="4754880" cy="1161288"/>
          </a:xfrm>
          <a:prstGeom prst="rect">
            <a:avLst/>
          </a:prstGeom>
          <a:noFill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2632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早期系统主要依赖分类、关键词和人工标签，优点是实现简单，缺点是难以表达用户兴趣强弱。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6172200" y="1261872"/>
            <a:ext cx="516636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CEEF4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172200" y="1261872"/>
            <a:ext cx="118872" cy="1874520"/>
          </a:xfrm>
          <a:prstGeom prst="rect">
            <a:avLst/>
          </a:prstGeom>
          <a:solidFill>
            <a:srgbClr val="EF8C31"/>
          </a:solidFill>
          <a:ln w="12700">
            <a:solidFill>
              <a:srgbClr val="EF8C31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428232" y="1426464"/>
            <a:ext cx="4754880" cy="310896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EF8C3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画像与协同阶段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6428232" y="1856232"/>
            <a:ext cx="4754880" cy="1161288"/>
          </a:xfrm>
          <a:prstGeom prst="rect">
            <a:avLst/>
          </a:prstGeom>
          <a:noFill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2632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内容推荐通过画像向量计算相似度，协同过滤利用群体行为发现潜在兴趣，但对数据规模和冷启动较敏感。</a:t>
            </a:r>
            <a:endParaRPr lang="en-US" sz="1800" dirty="0"/>
          </a:p>
        </p:txBody>
      </p:sp>
      <p:sp>
        <p:nvSpPr>
          <p:cNvPr id="19" name="Shape 16"/>
          <p:cNvSpPr/>
          <p:nvPr/>
        </p:nvSpPr>
        <p:spPr>
          <a:xfrm>
            <a:off x="822960" y="3675888"/>
            <a:ext cx="10515600" cy="1508760"/>
          </a:xfrm>
          <a:prstGeom prst="roundRect">
            <a:avLst>
              <a:gd name="adj" fmla="val 4848"/>
            </a:avLst>
          </a:prstGeom>
          <a:solidFill>
            <a:srgbClr val="EAF7FC"/>
          </a:solidFill>
          <a:ln w="12700">
            <a:solidFill>
              <a:srgbClr val="C7E9F2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133856" y="3877056"/>
            <a:ext cx="2057400" cy="320040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00" b="1" dirty="0">
                <a:solidFill>
                  <a:srgbClr val="0B4F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混合与解释阶段</a:t>
            </a:r>
            <a:endParaRPr lang="en-US" sz="2500" dirty="0"/>
          </a:p>
        </p:txBody>
      </p:sp>
      <p:sp>
        <p:nvSpPr>
          <p:cNvPr id="21" name="Text 18"/>
          <p:cNvSpPr/>
          <p:nvPr/>
        </p:nvSpPr>
        <p:spPr>
          <a:xfrm>
            <a:off x="3181985" y="3774440"/>
            <a:ext cx="8001000" cy="1097280"/>
          </a:xfrm>
          <a:prstGeom prst="rect">
            <a:avLst/>
          </a:prstGeom>
          <a:noFill/>
        </p:spPr>
        <p:txBody>
          <a:bodyPr wrap="square" lIns="1524" tIns="1524" rIns="1524" bIns="1524" rtlCol="0" anchor="ctr">
            <a:normAutofit/>
          </a:bodyPr>
          <a:lstStyle/>
          <a:p>
            <a:pPr>
              <a:lnSpc>
                <a:spcPct val="108000"/>
              </a:lnSpc>
            </a:pPr>
            <a:r>
              <a:rPr lang="en-US" sz="1900" dirty="0">
                <a:solidFill>
                  <a:srgbClr val="2632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混合推荐将画像相似度、业务规则和反馈行为结合起来，兼顾匹配效果和工程可控性。</a:t>
            </a:r>
            <a:endParaRPr lang="en-US" sz="1900" dirty="0"/>
          </a:p>
          <a:p>
            <a:pPr>
              <a:lnSpc>
                <a:spcPct val="108000"/>
              </a:lnSpc>
            </a:pPr>
            <a:r>
              <a:rPr lang="en-US" sz="1900" dirty="0">
                <a:solidFill>
                  <a:srgbClr val="2632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本项目进一步加入解释证据和透明链路，使推荐结果能够被用户理解并被测试复核。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D8EC0"/>
          </a:solidFill>
          <a:ln w="12700">
            <a:solidFill>
              <a:srgbClr val="1D8E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365760" y="-502920"/>
            <a:ext cx="2011680" cy="1005840"/>
          </a:xfrm>
          <a:prstGeom prst="arc">
            <a:avLst/>
          </a:prstGeom>
          <a:noFill/>
          <a:ln w="25400">
            <a:solidFill>
              <a:srgbClr val="57C6D9">
                <a:alpha val="7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292608"/>
            <a:ext cx="9235440" cy="457200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b="1" dirty="0">
                <a:solidFill>
                  <a:srgbClr val="0B4F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市场应用与校园场景切入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58368" y="822960"/>
            <a:ext cx="1143000" cy="0"/>
          </a:xfrm>
          <a:prstGeom prst="line">
            <a:avLst/>
          </a:prstGeom>
          <a:noFill/>
          <a:ln w="38100">
            <a:solidFill>
              <a:srgbClr val="57C6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01952" y="676656"/>
            <a:ext cx="6400800" cy="292608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5F6F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成熟推荐能力向垂直场景迁移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9308592" y="384048"/>
            <a:ext cx="1901952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0160">
            <a:solidFill>
              <a:srgbClr val="B9E3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454896" y="457200"/>
            <a:ext cx="1609344" cy="1371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1D8E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 背景与目标</a:t>
            </a:r>
            <a:endParaRPr lang="en-US" sz="1000" dirty="0"/>
          </a:p>
        </p:txBody>
      </p:sp>
      <p:pic>
        <p:nvPicPr>
          <p:cNvPr id="9" name="Image 0" descr="/Users/heybox/code/bishe/xunzhiyin/lcj-tmp/ppt_media_probe/image9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12096" y="6272784"/>
            <a:ext cx="1993392" cy="66751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58368" y="6355080"/>
            <a:ext cx="1097280" cy="228600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6B7D8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 / 20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713232" y="1325880"/>
            <a:ext cx="2468880" cy="347472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DCEEF4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13232" y="1325880"/>
            <a:ext cx="118872" cy="3474720"/>
          </a:xfrm>
          <a:prstGeom prst="rect">
            <a:avLst/>
          </a:prstGeom>
          <a:solidFill>
            <a:srgbClr val="1D8EC0"/>
          </a:solidFill>
          <a:ln w="12700">
            <a:solidFill>
              <a:srgbClr val="1D8EC0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69264" y="1490472"/>
            <a:ext cx="2057400" cy="310896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1D8E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内容平台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969264" y="1920240"/>
            <a:ext cx="2057400" cy="2761488"/>
          </a:xfrm>
          <a:prstGeom prst="rect">
            <a:avLst/>
          </a:prstGeom>
          <a:noFill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2632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短视频、资讯和社区平台依赖推荐完成内容分发，强调点击、停留和兴趣延展。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3547872" y="1325880"/>
            <a:ext cx="2468880" cy="347472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DCEEF4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547872" y="1325880"/>
            <a:ext cx="118872" cy="34747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803904" y="1490472"/>
            <a:ext cx="2057400" cy="310896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2E7D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电商与本地生活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3803904" y="1920240"/>
            <a:ext cx="2057400" cy="2761488"/>
          </a:xfrm>
          <a:prstGeom prst="rect">
            <a:avLst/>
          </a:prstGeom>
          <a:noFill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2632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商品、服务和门店推荐强调转化效率，通常结合用户行为、商品属性和场景约束。</a:t>
            </a:r>
            <a:endParaRPr lang="en-US" sz="1800" dirty="0"/>
          </a:p>
        </p:txBody>
      </p:sp>
      <p:sp>
        <p:nvSpPr>
          <p:cNvPr id="19" name="Shape 16"/>
          <p:cNvSpPr/>
          <p:nvPr/>
        </p:nvSpPr>
        <p:spPr>
          <a:xfrm>
            <a:off x="6382512" y="1325880"/>
            <a:ext cx="2468880" cy="347472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DCEEF4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382512" y="1325880"/>
            <a:ext cx="118872" cy="3474720"/>
          </a:xfrm>
          <a:prstGeom prst="rect">
            <a:avLst/>
          </a:prstGeom>
          <a:solidFill>
            <a:srgbClr val="EF8C31"/>
          </a:solidFill>
          <a:ln w="12700">
            <a:solidFill>
              <a:srgbClr val="EF8C31">
                <a:alpha val="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638544" y="1490472"/>
            <a:ext cx="2057400" cy="310896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EF8C3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社交与教育</a:t>
            </a:r>
            <a:endParaRPr lang="en-US" sz="2200" dirty="0"/>
          </a:p>
        </p:txBody>
      </p:sp>
      <p:sp>
        <p:nvSpPr>
          <p:cNvPr id="22" name="Text 19"/>
          <p:cNvSpPr/>
          <p:nvPr/>
        </p:nvSpPr>
        <p:spPr>
          <a:xfrm>
            <a:off x="6638544" y="1920240"/>
            <a:ext cx="2057400" cy="2761488"/>
          </a:xfrm>
          <a:prstGeom prst="rect">
            <a:avLst/>
          </a:prstGeom>
          <a:noFill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2632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好友、群组、课程和学习资源推荐更关注关系质量、共同目标和长期反馈。</a:t>
            </a:r>
            <a:endParaRPr lang="en-US" sz="1800" dirty="0"/>
          </a:p>
        </p:txBody>
      </p:sp>
      <p:sp>
        <p:nvSpPr>
          <p:cNvPr id="23" name="Shape 20"/>
          <p:cNvSpPr/>
          <p:nvPr/>
        </p:nvSpPr>
        <p:spPr>
          <a:xfrm>
            <a:off x="9217152" y="1325880"/>
            <a:ext cx="2468880" cy="347472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DCEEF4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9217152" y="1325880"/>
            <a:ext cx="118872" cy="347472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>
                <a:alpha val="0"/>
              </a:srgbClr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9473184" y="1490472"/>
            <a:ext cx="2057400" cy="310896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C6282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校园匹配切入点</a:t>
            </a:r>
            <a:endParaRPr lang="en-US" sz="2200" dirty="0"/>
          </a:p>
        </p:txBody>
      </p:sp>
      <p:sp>
        <p:nvSpPr>
          <p:cNvPr id="26" name="Text 23"/>
          <p:cNvSpPr/>
          <p:nvPr/>
        </p:nvSpPr>
        <p:spPr>
          <a:xfrm>
            <a:off x="9473184" y="1920240"/>
            <a:ext cx="2057400" cy="2761488"/>
          </a:xfrm>
          <a:prstGeom prst="rect">
            <a:avLst/>
          </a:prstGeom>
          <a:noFill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2632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校园场景数据规模较小，更适合采用低成本、可解释、可复核的轻量推荐工程方案。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D8EC0"/>
          </a:solidFill>
          <a:ln w="12700">
            <a:solidFill>
              <a:srgbClr val="1D8E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365760" y="-502920"/>
            <a:ext cx="2011680" cy="1005840"/>
          </a:xfrm>
          <a:prstGeom prst="arc">
            <a:avLst/>
          </a:prstGeom>
          <a:noFill/>
          <a:ln w="25400">
            <a:solidFill>
              <a:srgbClr val="57C6D9">
                <a:alpha val="7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292608"/>
            <a:ext cx="9235440" cy="457200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b="1" dirty="0">
                <a:solidFill>
                  <a:srgbClr val="0B4F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项目定位与技术路线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58368" y="822960"/>
            <a:ext cx="1143000" cy="0"/>
          </a:xfrm>
          <a:prstGeom prst="line">
            <a:avLst/>
          </a:prstGeom>
          <a:noFill/>
          <a:ln w="38100">
            <a:solidFill>
              <a:srgbClr val="57C6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01952" y="676656"/>
            <a:ext cx="6400800" cy="292608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5F6F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以轻量混合推荐支撑校园社交匹配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9308592" y="384048"/>
            <a:ext cx="1901952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0160">
            <a:solidFill>
              <a:srgbClr val="B9E3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454896" y="457200"/>
            <a:ext cx="1609344" cy="1371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1D8E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 设计与实现</a:t>
            </a:r>
            <a:endParaRPr lang="en-US" sz="1000" dirty="0"/>
          </a:p>
        </p:txBody>
      </p:sp>
      <p:pic>
        <p:nvPicPr>
          <p:cNvPr id="9" name="Image 0" descr="/Users/heybox/code/bishe/xunzhiyin/lcj-tmp/ppt_media_probe/image9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12096" y="6272784"/>
            <a:ext cx="1993392" cy="66751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58368" y="6355080"/>
            <a:ext cx="1097280" cy="228600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6B7D8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05 / 20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749808" y="1920240"/>
            <a:ext cx="1325880" cy="594360"/>
          </a:xfrm>
          <a:prstGeom prst="roundRect">
            <a:avLst>
              <a:gd name="adj" fmla="val 18462"/>
            </a:avLst>
          </a:prstGeom>
          <a:solidFill>
            <a:srgbClr val="FFFFFF"/>
          </a:solidFill>
          <a:ln w="15240">
            <a:solidFill>
              <a:srgbClr val="1D8EC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04672" y="1938528"/>
            <a:ext cx="1216152" cy="557784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1D8E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用户标签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2093976" y="2221992"/>
            <a:ext cx="466344" cy="0"/>
          </a:xfrm>
          <a:prstGeom prst="line">
            <a:avLst/>
          </a:prstGeom>
          <a:noFill/>
          <a:ln w="27940">
            <a:solidFill>
              <a:srgbClr val="1D8EC0"/>
            </a:solidFill>
            <a:prstDash val="solid"/>
            <a:headEnd type="none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2624328" y="1920240"/>
            <a:ext cx="1325880" cy="594360"/>
          </a:xfrm>
          <a:prstGeom prst="roundRect">
            <a:avLst>
              <a:gd name="adj" fmla="val 18462"/>
            </a:avLst>
          </a:prstGeom>
          <a:solidFill>
            <a:srgbClr val="FFFFFF"/>
          </a:solidFill>
          <a:ln w="15240">
            <a:solidFill>
              <a:srgbClr val="2E7D3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679192" y="1938528"/>
            <a:ext cx="1216152" cy="557784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2E7D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画像构建</a:t>
            </a:r>
            <a:endParaRPr lang="en-US" sz="1700" dirty="0"/>
          </a:p>
        </p:txBody>
      </p:sp>
      <p:sp>
        <p:nvSpPr>
          <p:cNvPr id="16" name="Shape 13"/>
          <p:cNvSpPr/>
          <p:nvPr/>
        </p:nvSpPr>
        <p:spPr>
          <a:xfrm>
            <a:off x="3968496" y="2221992"/>
            <a:ext cx="466344" cy="0"/>
          </a:xfrm>
          <a:prstGeom prst="line">
            <a:avLst/>
          </a:prstGeom>
          <a:noFill/>
          <a:ln w="27940">
            <a:solidFill>
              <a:srgbClr val="1D8EC0"/>
            </a:solidFill>
            <a:prstDash val="solid"/>
            <a:headEnd type="none"/>
            <a:tailEnd type="triangle"/>
          </a:ln>
        </p:spPr>
      </p:sp>
      <p:sp>
        <p:nvSpPr>
          <p:cNvPr id="17" name="Shape 14"/>
          <p:cNvSpPr/>
          <p:nvPr/>
        </p:nvSpPr>
        <p:spPr>
          <a:xfrm>
            <a:off x="4498848" y="1920240"/>
            <a:ext cx="1325880" cy="594360"/>
          </a:xfrm>
          <a:prstGeom prst="roundRect">
            <a:avLst>
              <a:gd name="adj" fmla="val 18462"/>
            </a:avLst>
          </a:prstGeom>
          <a:solidFill>
            <a:srgbClr val="FFFFFF"/>
          </a:solidFill>
          <a:ln w="15240">
            <a:solidFill>
              <a:srgbClr val="EF8C3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553712" y="1938528"/>
            <a:ext cx="1216152" cy="557784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EF8C3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候选召回</a:t>
            </a:r>
            <a:endParaRPr lang="en-US" sz="1700" dirty="0"/>
          </a:p>
        </p:txBody>
      </p:sp>
      <p:sp>
        <p:nvSpPr>
          <p:cNvPr id="19" name="Shape 16"/>
          <p:cNvSpPr/>
          <p:nvPr/>
        </p:nvSpPr>
        <p:spPr>
          <a:xfrm>
            <a:off x="5843016" y="2221992"/>
            <a:ext cx="466344" cy="0"/>
          </a:xfrm>
          <a:prstGeom prst="line">
            <a:avLst/>
          </a:prstGeom>
          <a:noFill/>
          <a:ln w="27940">
            <a:solidFill>
              <a:srgbClr val="1D8EC0"/>
            </a:solidFill>
            <a:prstDash val="solid"/>
            <a:headEnd type="none"/>
            <a:tailEnd type="triangle"/>
          </a:ln>
        </p:spPr>
      </p:sp>
      <p:sp>
        <p:nvSpPr>
          <p:cNvPr id="20" name="Shape 17"/>
          <p:cNvSpPr/>
          <p:nvPr/>
        </p:nvSpPr>
        <p:spPr>
          <a:xfrm>
            <a:off x="6373368" y="1920240"/>
            <a:ext cx="1325880" cy="594360"/>
          </a:xfrm>
          <a:prstGeom prst="roundRect">
            <a:avLst>
              <a:gd name="adj" fmla="val 18462"/>
            </a:avLst>
          </a:prstGeom>
          <a:solidFill>
            <a:srgbClr val="FFFFFF"/>
          </a:solidFill>
          <a:ln w="15240">
            <a:solidFill>
              <a:srgbClr val="EF8C3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428232" y="1938528"/>
            <a:ext cx="1216152" cy="557784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EF8C3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相似度排序</a:t>
            </a:r>
            <a:endParaRPr lang="en-US" sz="1700" dirty="0"/>
          </a:p>
        </p:txBody>
      </p:sp>
      <p:sp>
        <p:nvSpPr>
          <p:cNvPr id="22" name="Shape 19"/>
          <p:cNvSpPr/>
          <p:nvPr/>
        </p:nvSpPr>
        <p:spPr>
          <a:xfrm>
            <a:off x="7717536" y="2221992"/>
            <a:ext cx="466344" cy="0"/>
          </a:xfrm>
          <a:prstGeom prst="line">
            <a:avLst/>
          </a:prstGeom>
          <a:noFill/>
          <a:ln w="27940">
            <a:solidFill>
              <a:srgbClr val="1D8EC0"/>
            </a:solidFill>
            <a:prstDash val="solid"/>
            <a:headEnd type="none"/>
            <a:tailEnd type="triangle"/>
          </a:ln>
        </p:spPr>
      </p:sp>
      <p:sp>
        <p:nvSpPr>
          <p:cNvPr id="23" name="Shape 20"/>
          <p:cNvSpPr/>
          <p:nvPr/>
        </p:nvSpPr>
        <p:spPr>
          <a:xfrm>
            <a:off x="8247888" y="1920240"/>
            <a:ext cx="1325880" cy="594360"/>
          </a:xfrm>
          <a:prstGeom prst="roundRect">
            <a:avLst>
              <a:gd name="adj" fmla="val 18462"/>
            </a:avLst>
          </a:prstGeom>
          <a:solidFill>
            <a:srgbClr val="FFFFFF"/>
          </a:solidFill>
          <a:ln w="15240">
            <a:solidFill>
              <a:srgbClr val="C6282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302752" y="1938528"/>
            <a:ext cx="1216152" cy="557784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C6282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场景重排</a:t>
            </a:r>
            <a:endParaRPr lang="en-US" sz="1700" dirty="0"/>
          </a:p>
        </p:txBody>
      </p:sp>
      <p:sp>
        <p:nvSpPr>
          <p:cNvPr id="25" name="Shape 22"/>
          <p:cNvSpPr/>
          <p:nvPr/>
        </p:nvSpPr>
        <p:spPr>
          <a:xfrm>
            <a:off x="9592056" y="2221992"/>
            <a:ext cx="466344" cy="0"/>
          </a:xfrm>
          <a:prstGeom prst="line">
            <a:avLst/>
          </a:prstGeom>
          <a:noFill/>
          <a:ln w="27940">
            <a:solidFill>
              <a:srgbClr val="1D8EC0"/>
            </a:solidFill>
            <a:prstDash val="solid"/>
            <a:headEnd type="none"/>
            <a:tailEnd type="triangle"/>
          </a:ln>
        </p:spPr>
      </p:sp>
      <p:sp>
        <p:nvSpPr>
          <p:cNvPr id="26" name="Shape 23"/>
          <p:cNvSpPr/>
          <p:nvPr/>
        </p:nvSpPr>
        <p:spPr>
          <a:xfrm>
            <a:off x="10122408" y="1920240"/>
            <a:ext cx="1325880" cy="594360"/>
          </a:xfrm>
          <a:prstGeom prst="roundRect">
            <a:avLst>
              <a:gd name="adj" fmla="val 18462"/>
            </a:avLst>
          </a:prstGeom>
          <a:solidFill>
            <a:srgbClr val="FFFFFF"/>
          </a:solidFill>
          <a:ln w="15240">
            <a:solidFill>
              <a:srgbClr val="0B4F8A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10177272" y="1938528"/>
            <a:ext cx="1216152" cy="557784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0B4F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解释反馈</a:t>
            </a:r>
            <a:endParaRPr lang="en-US" sz="1700" dirty="0"/>
          </a:p>
        </p:txBody>
      </p:sp>
      <p:sp>
        <p:nvSpPr>
          <p:cNvPr id="28" name="Shape 25"/>
          <p:cNvSpPr/>
          <p:nvPr/>
        </p:nvSpPr>
        <p:spPr>
          <a:xfrm>
            <a:off x="960120" y="3154680"/>
            <a:ext cx="10195560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6EBF2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1234440" y="3364992"/>
            <a:ext cx="9692640" cy="1051560"/>
          </a:xfrm>
          <a:prstGeom prst="rect">
            <a:avLst/>
          </a:prstGeom>
          <a:noFill/>
        </p:spPr>
        <p:txBody>
          <a:bodyPr wrap="square" lIns="1524" tIns="1524" rIns="1524" bIns="1524" rtlCol="0" anchor="ctr">
            <a:normAutofit/>
          </a:bodyPr>
          <a:lstStyle/>
          <a:p>
            <a:pPr>
              <a:lnSpc>
                <a:spcPct val="108000"/>
              </a:lnSpc>
            </a:pPr>
            <a:r>
              <a:rPr lang="en-US" sz="1900" dirty="0">
                <a:solidFill>
                  <a:srgbClr val="2632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用户标签关系进入画像计算，生成可缓存的标签权重向量</a:t>
            </a:r>
            <a:endParaRPr lang="en-US" sz="1900" dirty="0"/>
          </a:p>
          <a:p>
            <a:pPr>
              <a:lnSpc>
                <a:spcPct val="108000"/>
              </a:lnSpc>
            </a:pPr>
            <a:r>
              <a:rPr lang="en-US" sz="1900" dirty="0">
                <a:solidFill>
                  <a:srgbClr val="2632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召回与排序阶段输出候选用户、基础分、规则分和最终分</a:t>
            </a:r>
            <a:endParaRPr lang="en-US" sz="1900" dirty="0"/>
          </a:p>
          <a:p>
            <a:pPr>
              <a:lnSpc>
                <a:spcPct val="108000"/>
              </a:lnSpc>
            </a:pPr>
            <a:r>
              <a:rPr lang="en-US" sz="1900" dirty="0">
                <a:solidFill>
                  <a:srgbClr val="2632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解释文本读取共同标签贡献和规则命中证据，反馈行为再更新画像状态</a:t>
            </a:r>
            <a:endParaRPr lang="en-US" sz="1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D8EC0"/>
          </a:solidFill>
          <a:ln w="12700">
            <a:solidFill>
              <a:srgbClr val="1D8E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365760" y="-502920"/>
            <a:ext cx="2011680" cy="1005840"/>
          </a:xfrm>
          <a:prstGeom prst="arc">
            <a:avLst/>
          </a:prstGeom>
          <a:noFill/>
          <a:ln w="25400">
            <a:solidFill>
              <a:srgbClr val="57C6D9">
                <a:alpha val="7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292608"/>
            <a:ext cx="9235440" cy="457200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b="1" dirty="0">
                <a:solidFill>
                  <a:srgbClr val="0B4F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系统整体架构图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58368" y="822960"/>
            <a:ext cx="1143000" cy="0"/>
          </a:xfrm>
          <a:prstGeom prst="line">
            <a:avLst/>
          </a:prstGeom>
          <a:noFill/>
          <a:ln w="38100">
            <a:solidFill>
              <a:srgbClr val="57C6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01952" y="676656"/>
            <a:ext cx="6400800" cy="292608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5F6F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前端、服务、算法、数据与外部解释能力分层协作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9308592" y="384048"/>
            <a:ext cx="1901952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0160">
            <a:solidFill>
              <a:srgbClr val="B9E3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454896" y="457200"/>
            <a:ext cx="1609344" cy="1371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1D8E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 设计与实现</a:t>
            </a:r>
            <a:endParaRPr lang="en-US" sz="1000" dirty="0"/>
          </a:p>
        </p:txBody>
      </p:sp>
      <p:pic>
        <p:nvPicPr>
          <p:cNvPr id="9" name="Image 0" descr="/Users/heybox/code/bishe/xunzhiyin/lcj-tmp/ppt_media_probe/image9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12096" y="6272784"/>
            <a:ext cx="1993392" cy="66751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58368" y="6355080"/>
            <a:ext cx="1097280" cy="228600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6B7D8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06 / 20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868680" y="1234440"/>
            <a:ext cx="10149840" cy="969264"/>
          </a:xfrm>
          <a:prstGeom prst="roundRect">
            <a:avLst>
              <a:gd name="adj" fmla="val 7547"/>
            </a:avLst>
          </a:prstGeom>
          <a:solidFill>
            <a:srgbClr val="FFFFFF"/>
          </a:solidFill>
          <a:ln w="12700">
            <a:solidFill>
              <a:srgbClr val="DCEEF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43000" y="1444752"/>
            <a:ext cx="1572768" cy="347472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1D8E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/>
            </a:r>
            <a:endParaRPr lang="en-US" sz="2200" dirty="0"/>
          </a:p>
        </p:txBody>
      </p:sp>
      <p:sp>
        <p:nvSpPr>
          <p:cNvPr id="13" name="Shape 10"/>
          <p:cNvSpPr/>
          <p:nvPr/>
        </p:nvSpPr>
        <p:spPr>
          <a:xfrm>
            <a:off x="3063240" y="1444752"/>
            <a:ext cx="1225296" cy="420624"/>
          </a:xfrm>
          <a:prstGeom prst="roundRect">
            <a:avLst>
              <a:gd name="adj" fmla="val 26087"/>
            </a:avLst>
          </a:prstGeom>
          <a:solidFill>
            <a:srgbClr val="FFFFFF"/>
          </a:solidFill>
          <a:ln w="15240">
            <a:solidFill>
              <a:srgbClr val="1D8EC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118104" y="1463040"/>
            <a:ext cx="1115568" cy="384048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1D8E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/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4572000" y="1444752"/>
            <a:ext cx="1225296" cy="420624"/>
          </a:xfrm>
          <a:prstGeom prst="roundRect">
            <a:avLst>
              <a:gd name="adj" fmla="val 26087"/>
            </a:avLst>
          </a:prstGeom>
          <a:solidFill>
            <a:srgbClr val="FFFFFF"/>
          </a:solidFill>
          <a:ln w="15240">
            <a:solidFill>
              <a:srgbClr val="1D8EC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626864" y="1463040"/>
            <a:ext cx="1115568" cy="384048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1D8E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/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6080760" y="1444752"/>
            <a:ext cx="1225296" cy="420624"/>
          </a:xfrm>
          <a:prstGeom prst="roundRect">
            <a:avLst>
              <a:gd name="adj" fmla="val 26087"/>
            </a:avLst>
          </a:prstGeom>
          <a:solidFill>
            <a:srgbClr val="FFFFFF"/>
          </a:solidFill>
          <a:ln w="15240">
            <a:solidFill>
              <a:srgbClr val="1D8EC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135624" y="1463040"/>
            <a:ext cx="1115568" cy="384048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1D8E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/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7589520" y="1444752"/>
            <a:ext cx="1225296" cy="420624"/>
          </a:xfrm>
          <a:prstGeom prst="roundRect">
            <a:avLst>
              <a:gd name="adj" fmla="val 26087"/>
            </a:avLst>
          </a:prstGeom>
          <a:solidFill>
            <a:srgbClr val="FFFFFF"/>
          </a:solidFill>
          <a:ln w="15240">
            <a:solidFill>
              <a:srgbClr val="1D8EC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644384" y="1463040"/>
            <a:ext cx="1115568" cy="384048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1D8E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/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868680" y="2651760"/>
            <a:ext cx="10149840" cy="969264"/>
          </a:xfrm>
          <a:prstGeom prst="roundRect">
            <a:avLst>
              <a:gd name="adj" fmla="val 7547"/>
            </a:avLst>
          </a:prstGeom>
          <a:solidFill>
            <a:srgbClr val="FFF8EE"/>
          </a:solidFill>
          <a:ln w="12700">
            <a:solidFill>
              <a:srgbClr val="DCEEF4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143000" y="2862072"/>
            <a:ext cx="1572768" cy="347472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EF8C3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/>
            </a:r>
            <a:endParaRPr lang="en-US" sz="2200" dirty="0"/>
          </a:p>
        </p:txBody>
      </p:sp>
      <p:sp>
        <p:nvSpPr>
          <p:cNvPr id="23" name="Shape 20"/>
          <p:cNvSpPr/>
          <p:nvPr/>
        </p:nvSpPr>
        <p:spPr>
          <a:xfrm>
            <a:off x="3063240" y="2862072"/>
            <a:ext cx="1225296" cy="420624"/>
          </a:xfrm>
          <a:prstGeom prst="roundRect">
            <a:avLst>
              <a:gd name="adj" fmla="val 26087"/>
            </a:avLst>
          </a:prstGeom>
          <a:solidFill>
            <a:srgbClr val="FFFFFF"/>
          </a:solidFill>
          <a:ln w="15240">
            <a:solidFill>
              <a:srgbClr val="EF8C3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118104" y="2880360"/>
            <a:ext cx="1115568" cy="384048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EF8C3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/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4572000" y="2862072"/>
            <a:ext cx="1225296" cy="420624"/>
          </a:xfrm>
          <a:prstGeom prst="roundRect">
            <a:avLst>
              <a:gd name="adj" fmla="val 26087"/>
            </a:avLst>
          </a:prstGeom>
          <a:solidFill>
            <a:srgbClr val="FFFFFF"/>
          </a:solidFill>
          <a:ln w="15240">
            <a:solidFill>
              <a:srgbClr val="EF8C3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626864" y="2880360"/>
            <a:ext cx="1115568" cy="384048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EF8C3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/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6080760" y="2862072"/>
            <a:ext cx="1225296" cy="420624"/>
          </a:xfrm>
          <a:prstGeom prst="roundRect">
            <a:avLst>
              <a:gd name="adj" fmla="val 26087"/>
            </a:avLst>
          </a:prstGeom>
          <a:solidFill>
            <a:srgbClr val="FFFFFF"/>
          </a:solidFill>
          <a:ln w="15240">
            <a:solidFill>
              <a:srgbClr val="EF8C31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135624" y="2880360"/>
            <a:ext cx="1115568" cy="384048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EF8C3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/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7589520" y="2862072"/>
            <a:ext cx="1225296" cy="420624"/>
          </a:xfrm>
          <a:prstGeom prst="roundRect">
            <a:avLst>
              <a:gd name="adj" fmla="val 26087"/>
            </a:avLst>
          </a:prstGeom>
          <a:solidFill>
            <a:srgbClr val="FFFFFF"/>
          </a:solidFill>
          <a:ln w="15240">
            <a:solidFill>
              <a:srgbClr val="EF8C3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644384" y="2880360"/>
            <a:ext cx="1115568" cy="384048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EF8C3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/>
            </a:r>
            <a:endParaRPr lang="en-US" sz="1300" dirty="0"/>
          </a:p>
        </p:txBody>
      </p:sp>
      <p:sp>
        <p:nvSpPr>
          <p:cNvPr id="31" name="Shape 28"/>
          <p:cNvSpPr/>
          <p:nvPr/>
        </p:nvSpPr>
        <p:spPr>
          <a:xfrm>
            <a:off x="9098280" y="2862072"/>
            <a:ext cx="1225296" cy="420624"/>
          </a:xfrm>
          <a:prstGeom prst="roundRect">
            <a:avLst>
              <a:gd name="adj" fmla="val 26087"/>
            </a:avLst>
          </a:prstGeom>
          <a:solidFill>
            <a:srgbClr val="FFFFFF"/>
          </a:solidFill>
          <a:ln w="15240">
            <a:solidFill>
              <a:srgbClr val="EF8C3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9153144" y="2880360"/>
            <a:ext cx="1115568" cy="384048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EF8C3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/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868680" y="4069080"/>
            <a:ext cx="10149840" cy="969264"/>
          </a:xfrm>
          <a:prstGeom prst="roundRect">
            <a:avLst>
              <a:gd name="adj" fmla="val 7547"/>
            </a:avLst>
          </a:prstGeom>
          <a:solidFill>
            <a:srgbClr val="FFFFFF"/>
          </a:solidFill>
          <a:ln w="12700">
            <a:solidFill>
              <a:srgbClr val="DCEEF4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1143000" y="4279392"/>
            <a:ext cx="1572768" cy="347472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2E7D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/>
            </a:r>
            <a:endParaRPr lang="en-US" sz="2200" dirty="0"/>
          </a:p>
        </p:txBody>
      </p:sp>
      <p:sp>
        <p:nvSpPr>
          <p:cNvPr id="35" name="Shape 32"/>
          <p:cNvSpPr/>
          <p:nvPr/>
        </p:nvSpPr>
        <p:spPr>
          <a:xfrm>
            <a:off x="3063240" y="4279265"/>
            <a:ext cx="1448435" cy="420370"/>
          </a:xfrm>
          <a:prstGeom prst="roundRect">
            <a:avLst>
              <a:gd name="adj" fmla="val 26087"/>
            </a:avLst>
          </a:prstGeom>
          <a:solidFill>
            <a:srgbClr val="FFFFFF"/>
          </a:solidFill>
          <a:ln w="15240">
            <a:solidFill>
              <a:srgbClr val="2E7D32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3117850" y="4297680"/>
            <a:ext cx="1448435" cy="384175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E7D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/>
            </a:r>
            <a:endParaRPr lang="en-US" sz="1300" dirty="0"/>
          </a:p>
        </p:txBody>
      </p:sp>
      <p:sp>
        <p:nvSpPr>
          <p:cNvPr id="37" name="Shape 34"/>
          <p:cNvSpPr/>
          <p:nvPr/>
        </p:nvSpPr>
        <p:spPr>
          <a:xfrm>
            <a:off x="4572000" y="4279392"/>
            <a:ext cx="1225296" cy="420624"/>
          </a:xfrm>
          <a:prstGeom prst="roundRect">
            <a:avLst>
              <a:gd name="adj" fmla="val 26087"/>
            </a:avLst>
          </a:prstGeom>
          <a:solidFill>
            <a:srgbClr val="FFFFFF"/>
          </a:solidFill>
          <a:ln w="15240">
            <a:solidFill>
              <a:srgbClr val="2E7D32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4626864" y="4297680"/>
            <a:ext cx="1115568" cy="384048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E7D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/>
            </a:r>
            <a:endParaRPr lang="en-US" sz="1300" dirty="0"/>
          </a:p>
        </p:txBody>
      </p:sp>
      <p:sp>
        <p:nvSpPr>
          <p:cNvPr id="39" name="Shape 36"/>
          <p:cNvSpPr/>
          <p:nvPr/>
        </p:nvSpPr>
        <p:spPr>
          <a:xfrm>
            <a:off x="6080760" y="4279392"/>
            <a:ext cx="1225296" cy="420624"/>
          </a:xfrm>
          <a:prstGeom prst="roundRect">
            <a:avLst>
              <a:gd name="adj" fmla="val 26087"/>
            </a:avLst>
          </a:prstGeom>
          <a:solidFill>
            <a:srgbClr val="FFFFFF"/>
          </a:solidFill>
          <a:ln w="15240">
            <a:solidFill>
              <a:srgbClr val="2E7D32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6135624" y="4297680"/>
            <a:ext cx="1115568" cy="384048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E7D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/>
            </a:r>
            <a:endParaRPr lang="en-US" sz="1300" dirty="0"/>
          </a:p>
        </p:txBody>
      </p:sp>
      <p:sp>
        <p:nvSpPr>
          <p:cNvPr id="41" name="Shape 38"/>
          <p:cNvSpPr/>
          <p:nvPr/>
        </p:nvSpPr>
        <p:spPr>
          <a:xfrm>
            <a:off x="7589520" y="4279392"/>
            <a:ext cx="1225296" cy="420624"/>
          </a:xfrm>
          <a:prstGeom prst="roundRect">
            <a:avLst>
              <a:gd name="adj" fmla="val 26087"/>
            </a:avLst>
          </a:prstGeom>
          <a:solidFill>
            <a:srgbClr val="FFFFFF"/>
          </a:solidFill>
          <a:ln w="15240">
            <a:solidFill>
              <a:srgbClr val="2E7D32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7644384" y="4297680"/>
            <a:ext cx="1115568" cy="384048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E7D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/>
            </a:r>
            <a:endParaRPr lang="en-US" sz="1300" dirty="0"/>
          </a:p>
        </p:txBody>
      </p:sp>
      <p:sp>
        <p:nvSpPr>
          <p:cNvPr id="43" name="Shape 40"/>
          <p:cNvSpPr/>
          <p:nvPr/>
        </p:nvSpPr>
        <p:spPr>
          <a:xfrm>
            <a:off x="5989320" y="2221992"/>
            <a:ext cx="0" cy="374904"/>
          </a:xfrm>
          <a:prstGeom prst="line">
            <a:avLst/>
          </a:prstGeom>
          <a:noFill/>
          <a:ln w="27940">
            <a:solidFill>
              <a:srgbClr val="1D8EC0"/>
            </a:solidFill>
            <a:prstDash val="solid"/>
            <a:headEnd type="none"/>
            <a:tailEnd type="triangle"/>
          </a:ln>
        </p:spPr>
      </p:sp>
      <p:sp>
        <p:nvSpPr>
          <p:cNvPr id="44" name="Shape 41"/>
          <p:cNvSpPr/>
          <p:nvPr/>
        </p:nvSpPr>
        <p:spPr>
          <a:xfrm>
            <a:off x="5989320" y="3639312"/>
            <a:ext cx="0" cy="374904"/>
          </a:xfrm>
          <a:prstGeom prst="line">
            <a:avLst/>
          </a:prstGeom>
          <a:noFill/>
          <a:ln w="27940">
            <a:solidFill>
              <a:srgbClr val="EF8C31"/>
            </a:solidFill>
            <a:prstDash val="solid"/>
            <a:headEnd type="none"/>
            <a:tailEnd type="triangle"/>
          </a:ln>
        </p:spPr>
      </p:sp>
      <p:sp>
        <p:nvSpPr>
          <p:cNvPr id="45" name="Text 42"/>
          <p:cNvSpPr/>
          <p:nvPr/>
        </p:nvSpPr>
        <p:spPr>
          <a:xfrm>
            <a:off x="1170432" y="5486400"/>
            <a:ext cx="8686800" cy="347472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5F6F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/>
            </a:r>
            <a:endParaRPr lang="en-US" sz="1800" dirty="0"/>
          </a:p>
        </p:txBody>
      </p:sp>
      <p:pic>
        <p:nvPicPr>
          <p:cNvPr id="46" name="v3_architect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60000" y="1060000"/>
            <a:ext cx="8250000" cy="5290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D8EC0"/>
          </a:solidFill>
          <a:ln w="12700">
            <a:solidFill>
              <a:srgbClr val="1D8E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365760" y="-502920"/>
            <a:ext cx="2011680" cy="1005840"/>
          </a:xfrm>
          <a:prstGeom prst="arc">
            <a:avLst/>
          </a:prstGeom>
          <a:noFill/>
          <a:ln w="25400">
            <a:solidFill>
              <a:srgbClr val="57C6D9">
                <a:alpha val="7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292608"/>
            <a:ext cx="9235440" cy="457200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b="1" dirty="0">
                <a:solidFill>
                  <a:srgbClr val="0B4F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系统功能模块结构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58368" y="822960"/>
            <a:ext cx="1143000" cy="0"/>
          </a:xfrm>
          <a:prstGeom prst="line">
            <a:avLst/>
          </a:prstGeom>
          <a:noFill/>
          <a:ln w="38100">
            <a:solidFill>
              <a:srgbClr val="57C6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01952" y="676656"/>
            <a:ext cx="6400800" cy="292608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5F6F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模块边界与实现内容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9308592" y="384048"/>
            <a:ext cx="1901952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0160">
            <a:solidFill>
              <a:srgbClr val="B9E3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454896" y="457200"/>
            <a:ext cx="1609344" cy="1371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1D8E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 设计与实现</a:t>
            </a:r>
            <a:endParaRPr lang="en-US" sz="1000" dirty="0"/>
          </a:p>
        </p:txBody>
      </p:sp>
      <p:pic>
        <p:nvPicPr>
          <p:cNvPr id="9" name="Image 0" descr="/Users/heybox/code/bishe/xunzhiyin/lcj-tmp/ppt_media_probe/image9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12096" y="6272784"/>
            <a:ext cx="1993392" cy="66751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58368" y="6355080"/>
            <a:ext cx="1097280" cy="228600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6B7D8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07 / 20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246120" y="1115568"/>
            <a:ext cx="539496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5240">
            <a:solidFill>
              <a:srgbClr val="0B4F8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300984" y="1133856"/>
            <a:ext cx="5285232" cy="530352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0B4F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校园社交匹配与可解释推荐系统</a:t>
            </a:r>
            <a:endParaRPr lang="en-US" sz="1900" dirty="0"/>
          </a:p>
        </p:txBody>
      </p:sp>
      <p:sp>
        <p:nvSpPr>
          <p:cNvPr id="13" name="Shape 10"/>
          <p:cNvSpPr/>
          <p:nvPr/>
        </p:nvSpPr>
        <p:spPr>
          <a:xfrm>
            <a:off x="5943600" y="1682496"/>
            <a:ext cx="0" cy="420624"/>
          </a:xfrm>
          <a:prstGeom prst="line">
            <a:avLst/>
          </a:prstGeom>
          <a:noFill/>
          <a:ln w="27940">
            <a:solidFill>
              <a:srgbClr val="0B4F8A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554480" y="2103120"/>
            <a:ext cx="8796528" cy="0"/>
          </a:xfrm>
          <a:prstGeom prst="line">
            <a:avLst/>
          </a:prstGeom>
          <a:noFill/>
          <a:ln w="27940">
            <a:solidFill>
              <a:srgbClr val="0B4F8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632704" y="1874520"/>
            <a:ext cx="621792" cy="182880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0B4F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包含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1600200" y="2103120"/>
            <a:ext cx="0" cy="420624"/>
          </a:xfrm>
          <a:prstGeom prst="line">
            <a:avLst/>
          </a:prstGeom>
          <a:noFill/>
          <a:ln w="20320">
            <a:solidFill>
              <a:srgbClr val="0B4F8A"/>
            </a:solidFill>
            <a:prstDash val="solid"/>
            <a:tailEnd type="triangle"/>
          </a:ln>
        </p:spPr>
      </p:sp>
      <p:sp>
        <p:nvSpPr>
          <p:cNvPr id="17" name="Shape 14"/>
          <p:cNvSpPr/>
          <p:nvPr/>
        </p:nvSpPr>
        <p:spPr>
          <a:xfrm>
            <a:off x="685800" y="2523744"/>
            <a:ext cx="182880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CEEF4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85800" y="2523744"/>
            <a:ext cx="118872" cy="1508760"/>
          </a:xfrm>
          <a:prstGeom prst="rect">
            <a:avLst/>
          </a:prstGeom>
          <a:solidFill>
            <a:srgbClr val="1D8EC0"/>
          </a:solidFill>
          <a:ln w="12700">
            <a:solidFill>
              <a:srgbClr val="1D8EC0">
                <a:alpha val="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41832" y="2688336"/>
            <a:ext cx="1417320" cy="310896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b="1" dirty="0">
                <a:solidFill>
                  <a:srgbClr val="1D8E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基础数据维护</a:t>
            </a:r>
            <a:endParaRPr lang="en-US" b="1" dirty="0">
              <a:solidFill>
                <a:srgbClr val="1D8EC0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941832" y="3118104"/>
            <a:ext cx="1417320" cy="795528"/>
          </a:xfrm>
          <a:prstGeom prst="rect">
            <a:avLst/>
          </a:prstGeom>
          <a:noFill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2632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用户、标签</a:t>
            </a:r>
            <a:endParaRPr lang="en-US" sz="18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2632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关系数据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3867912" y="2103120"/>
            <a:ext cx="0" cy="420624"/>
          </a:xfrm>
          <a:prstGeom prst="line">
            <a:avLst/>
          </a:prstGeom>
          <a:noFill/>
          <a:ln w="20320">
            <a:solidFill>
              <a:srgbClr val="0B4F8A"/>
            </a:solidFill>
            <a:prstDash val="solid"/>
            <a:tailEnd type="triangle"/>
          </a:ln>
        </p:spPr>
      </p:sp>
      <p:sp>
        <p:nvSpPr>
          <p:cNvPr id="22" name="Shape 19"/>
          <p:cNvSpPr/>
          <p:nvPr/>
        </p:nvSpPr>
        <p:spPr>
          <a:xfrm>
            <a:off x="2953512" y="2523744"/>
            <a:ext cx="182880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CEEF4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2953512" y="2523744"/>
            <a:ext cx="118872" cy="150876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>
                <a:alpha val="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209544" y="2688336"/>
            <a:ext cx="1417320" cy="310896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 fontScale="80000"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2E7D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用户</a:t>
            </a:r>
            <a:r>
              <a:rPr lang="en-US" sz="2250" b="1" dirty="0">
                <a:solidFill>
                  <a:srgbClr val="2E7D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画像</a:t>
            </a:r>
            <a:r>
              <a:rPr lang="en-US" sz="2200" b="1" dirty="0">
                <a:solidFill>
                  <a:srgbClr val="2E7D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构建</a:t>
            </a:r>
            <a:endParaRPr lang="en-US" sz="2200" dirty="0"/>
          </a:p>
        </p:txBody>
      </p:sp>
      <p:sp>
        <p:nvSpPr>
          <p:cNvPr id="25" name="Text 22"/>
          <p:cNvSpPr/>
          <p:nvPr/>
        </p:nvSpPr>
        <p:spPr>
          <a:xfrm>
            <a:off x="3209544" y="3118104"/>
            <a:ext cx="1417320" cy="795528"/>
          </a:xfrm>
          <a:prstGeom prst="rect">
            <a:avLst/>
          </a:prstGeom>
          <a:noFill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2632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画像向量</a:t>
            </a:r>
            <a:endParaRPr lang="en-US" sz="18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2632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Top-K标签</a:t>
            </a:r>
            <a:endParaRPr lang="en-US" sz="1800" dirty="0"/>
          </a:p>
        </p:txBody>
      </p:sp>
      <p:sp>
        <p:nvSpPr>
          <p:cNvPr id="26" name="Shape 23"/>
          <p:cNvSpPr/>
          <p:nvPr/>
        </p:nvSpPr>
        <p:spPr>
          <a:xfrm>
            <a:off x="6135624" y="2103120"/>
            <a:ext cx="0" cy="420624"/>
          </a:xfrm>
          <a:prstGeom prst="line">
            <a:avLst/>
          </a:prstGeom>
          <a:noFill/>
          <a:ln w="20320">
            <a:solidFill>
              <a:srgbClr val="0B4F8A"/>
            </a:solidFill>
            <a:prstDash val="solid"/>
            <a:tailEnd type="triangle"/>
          </a:ln>
        </p:spPr>
      </p:sp>
      <p:sp>
        <p:nvSpPr>
          <p:cNvPr id="27" name="Shape 24"/>
          <p:cNvSpPr/>
          <p:nvPr/>
        </p:nvSpPr>
        <p:spPr>
          <a:xfrm>
            <a:off x="5221224" y="2523744"/>
            <a:ext cx="182880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CEEF4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5221224" y="2523744"/>
            <a:ext cx="118872" cy="1508760"/>
          </a:xfrm>
          <a:prstGeom prst="rect">
            <a:avLst/>
          </a:prstGeom>
          <a:solidFill>
            <a:srgbClr val="EF8C31"/>
          </a:solidFill>
          <a:ln w="12700">
            <a:solidFill>
              <a:srgbClr val="EF8C31">
                <a:alpha val="0"/>
              </a:srgbClr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477256" y="2688336"/>
            <a:ext cx="1417320" cy="310896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 fontScale="80000"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EF8C3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匹配</a:t>
            </a:r>
            <a:r>
              <a:rPr lang="en-US" sz="2250" b="1" dirty="0">
                <a:solidFill>
                  <a:srgbClr val="EF8C3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推荐</a:t>
            </a:r>
            <a:r>
              <a:rPr lang="en-US" sz="2200" b="1" dirty="0">
                <a:solidFill>
                  <a:srgbClr val="EF8C3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生成</a:t>
            </a:r>
            <a:endParaRPr lang="en-US" sz="2200" dirty="0"/>
          </a:p>
        </p:txBody>
      </p:sp>
      <p:sp>
        <p:nvSpPr>
          <p:cNvPr id="30" name="Text 27"/>
          <p:cNvSpPr/>
          <p:nvPr/>
        </p:nvSpPr>
        <p:spPr>
          <a:xfrm>
            <a:off x="5477256" y="3118104"/>
            <a:ext cx="1417320" cy="795528"/>
          </a:xfrm>
          <a:prstGeom prst="rect">
            <a:avLst/>
          </a:prstGeom>
          <a:noFill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2632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召回、排序</a:t>
            </a:r>
            <a:endParaRPr lang="en-US" sz="18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2632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重排、可信</a:t>
            </a:r>
            <a:endParaRPr lang="en-US" sz="1800" dirty="0"/>
          </a:p>
        </p:txBody>
      </p:sp>
      <p:sp>
        <p:nvSpPr>
          <p:cNvPr id="31" name="Shape 28"/>
          <p:cNvSpPr/>
          <p:nvPr/>
        </p:nvSpPr>
        <p:spPr>
          <a:xfrm>
            <a:off x="8403336" y="2103120"/>
            <a:ext cx="0" cy="420624"/>
          </a:xfrm>
          <a:prstGeom prst="line">
            <a:avLst/>
          </a:prstGeom>
          <a:noFill/>
          <a:ln w="20320">
            <a:solidFill>
              <a:srgbClr val="0B4F8A"/>
            </a:solidFill>
            <a:prstDash val="solid"/>
            <a:tailEnd type="triangle"/>
          </a:ln>
        </p:spPr>
      </p:sp>
      <p:sp>
        <p:nvSpPr>
          <p:cNvPr id="32" name="Shape 29"/>
          <p:cNvSpPr/>
          <p:nvPr/>
        </p:nvSpPr>
        <p:spPr>
          <a:xfrm>
            <a:off x="7488936" y="2523744"/>
            <a:ext cx="182880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CEEF4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7488936" y="2523744"/>
            <a:ext cx="118872" cy="150876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>
                <a:alpha val="0"/>
              </a:srgbClr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744968" y="2688336"/>
            <a:ext cx="1417320" cy="310896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 fontScale="80000"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C6282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解释反馈闭环</a:t>
            </a:r>
            <a:endParaRPr lang="en-US" sz="2200" dirty="0"/>
          </a:p>
        </p:txBody>
      </p:sp>
      <p:sp>
        <p:nvSpPr>
          <p:cNvPr id="35" name="Text 32"/>
          <p:cNvSpPr/>
          <p:nvPr/>
        </p:nvSpPr>
        <p:spPr>
          <a:xfrm>
            <a:off x="7744968" y="3118104"/>
            <a:ext cx="1417320" cy="795528"/>
          </a:xfrm>
          <a:prstGeom prst="rect">
            <a:avLst/>
          </a:prstGeom>
          <a:noFill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2632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证据解释</a:t>
            </a:r>
            <a:endParaRPr lang="en-US" sz="18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2632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反馈更新</a:t>
            </a:r>
            <a:endParaRPr lang="en-US" sz="1800" dirty="0"/>
          </a:p>
        </p:txBody>
      </p:sp>
      <p:sp>
        <p:nvSpPr>
          <p:cNvPr id="36" name="Shape 33"/>
          <p:cNvSpPr/>
          <p:nvPr/>
        </p:nvSpPr>
        <p:spPr>
          <a:xfrm>
            <a:off x="10671048" y="2103120"/>
            <a:ext cx="0" cy="420624"/>
          </a:xfrm>
          <a:prstGeom prst="line">
            <a:avLst/>
          </a:prstGeom>
          <a:noFill/>
          <a:ln w="20320">
            <a:solidFill>
              <a:srgbClr val="0B4F8A"/>
            </a:solidFill>
            <a:prstDash val="solid"/>
            <a:tailEnd type="triangle"/>
          </a:ln>
        </p:spPr>
      </p:sp>
      <p:sp>
        <p:nvSpPr>
          <p:cNvPr id="37" name="Shape 34"/>
          <p:cNvSpPr/>
          <p:nvPr/>
        </p:nvSpPr>
        <p:spPr>
          <a:xfrm>
            <a:off x="9756648" y="2523744"/>
            <a:ext cx="182880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CEEF4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9756648" y="2523744"/>
            <a:ext cx="118872" cy="1508760"/>
          </a:xfrm>
          <a:prstGeom prst="rect">
            <a:avLst/>
          </a:prstGeom>
          <a:solidFill>
            <a:srgbClr val="0B4F8A"/>
          </a:solidFill>
          <a:ln w="12700">
            <a:solidFill>
              <a:srgbClr val="0B4F8A">
                <a:alpha val="0"/>
              </a:srgbClr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10012680" y="2688336"/>
            <a:ext cx="1417320" cy="310896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 fontScale="80000"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0B4F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评估链路展示</a:t>
            </a:r>
            <a:endParaRPr lang="en-US" sz="2200" dirty="0"/>
          </a:p>
        </p:txBody>
      </p:sp>
      <p:sp>
        <p:nvSpPr>
          <p:cNvPr id="40" name="Text 37"/>
          <p:cNvSpPr/>
          <p:nvPr/>
        </p:nvSpPr>
        <p:spPr>
          <a:xfrm>
            <a:off x="10012680" y="3118104"/>
            <a:ext cx="1417320" cy="795528"/>
          </a:xfrm>
          <a:prstGeom prst="rect">
            <a:avLst/>
          </a:prstGeom>
          <a:noFill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2632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指标对比</a:t>
            </a:r>
            <a:endParaRPr lang="en-US" sz="18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2632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导出复核</a:t>
            </a:r>
            <a:endParaRPr lang="en-US" sz="1800" dirty="0"/>
          </a:p>
        </p:txBody>
      </p:sp>
      <p:sp>
        <p:nvSpPr>
          <p:cNvPr id="41" name="Text 38"/>
          <p:cNvSpPr/>
          <p:nvPr/>
        </p:nvSpPr>
        <p:spPr>
          <a:xfrm>
            <a:off x="914400" y="4297680"/>
            <a:ext cx="10058400" cy="329184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000" b="1" dirty="0">
                <a:solidFill>
                  <a:srgbClr val="0B4F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模块之间按“数据准备 → 画像计算 → 推荐生成 → 解释反馈 → 评估复核”的顺序协作。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D8EC0"/>
          </a:solidFill>
          <a:ln w="12700">
            <a:solidFill>
              <a:srgbClr val="1D8E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365760" y="-502920"/>
            <a:ext cx="2011680" cy="1005840"/>
          </a:xfrm>
          <a:prstGeom prst="arc">
            <a:avLst/>
          </a:prstGeom>
          <a:noFill/>
          <a:ln w="25400">
            <a:solidFill>
              <a:srgbClr val="57C6D9">
                <a:alpha val="7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292608"/>
            <a:ext cx="9235440" cy="457200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b="1" dirty="0">
                <a:solidFill>
                  <a:srgbClr val="0B4F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数据与缓存设计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58368" y="822960"/>
            <a:ext cx="1143000" cy="0"/>
          </a:xfrm>
          <a:prstGeom prst="line">
            <a:avLst/>
          </a:prstGeom>
          <a:noFill/>
          <a:ln w="38100">
            <a:solidFill>
              <a:srgbClr val="57C6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01952" y="676656"/>
            <a:ext cx="6400800" cy="292608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5F6F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持久化事实与高频读取分离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9308592" y="384048"/>
            <a:ext cx="1901952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0160">
            <a:solidFill>
              <a:srgbClr val="B9E3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454896" y="457200"/>
            <a:ext cx="1609344" cy="1371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1D8E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 设计与实现</a:t>
            </a:r>
            <a:endParaRPr lang="en-US" sz="1000" dirty="0"/>
          </a:p>
        </p:txBody>
      </p:sp>
      <p:pic>
        <p:nvPicPr>
          <p:cNvPr id="9" name="Image 0" descr="/Users/heybox/code/bishe/xunzhiyin/lcj-tmp/ppt_media_probe/image9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12096" y="6272784"/>
            <a:ext cx="1993392" cy="66751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58368" y="6355080"/>
            <a:ext cx="1097280" cy="228600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6B7D8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08 / 20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822960" y="1371600"/>
            <a:ext cx="525780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DCEEF4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22960" y="1371600"/>
            <a:ext cx="118872" cy="2240280"/>
          </a:xfrm>
          <a:prstGeom prst="rect">
            <a:avLst/>
          </a:prstGeom>
          <a:solidFill>
            <a:srgbClr val="0B4F8A"/>
          </a:solidFill>
          <a:ln w="12700">
            <a:solidFill>
              <a:srgbClr val="0B4F8A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078992" y="1536192"/>
            <a:ext cx="4846320" cy="310896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0B4F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MySQL 数据表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1078992" y="1965960"/>
            <a:ext cx="4846320" cy="1527048"/>
          </a:xfrm>
          <a:prstGeom prst="rect">
            <a:avLst/>
          </a:prstGeom>
          <a:noFill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2632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user、tag、user_tag_relation、user_profile、recommendation_result、recommendation_explanation、user_feedback 等表保存业务事实。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6263640" y="1371600"/>
            <a:ext cx="489204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DCEEF4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263640" y="1371600"/>
            <a:ext cx="118872" cy="224028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519672" y="1536192"/>
            <a:ext cx="4480560" cy="310896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2E7D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Redis 缓存与索引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6519672" y="1965960"/>
            <a:ext cx="4480560" cy="1527048"/>
          </a:xfrm>
          <a:prstGeom prst="rect">
            <a:avLst/>
          </a:prstGeom>
          <a:noFill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2632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画像缓存、推荐缓存和标签倒排索引用于减少重复计算，并支撑候选用户快速召回。</a:t>
            </a:r>
            <a:endParaRPr lang="en-US" sz="1800" dirty="0"/>
          </a:p>
        </p:txBody>
      </p:sp>
      <p:sp>
        <p:nvSpPr>
          <p:cNvPr id="19" name="Shape 16"/>
          <p:cNvSpPr/>
          <p:nvPr/>
        </p:nvSpPr>
        <p:spPr>
          <a:xfrm>
            <a:off x="1005840" y="4160520"/>
            <a:ext cx="9966960" cy="822960"/>
          </a:xfrm>
          <a:prstGeom prst="roundRect">
            <a:avLst>
              <a:gd name="adj" fmla="val 8889"/>
            </a:avLst>
          </a:prstGeom>
          <a:solidFill>
            <a:srgbClr val="EAF7FC"/>
          </a:solidFill>
          <a:ln w="12700">
            <a:solidFill>
              <a:srgbClr val="C7E9F2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234440" y="4334256"/>
            <a:ext cx="9418320" cy="320040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000" b="1" dirty="0">
                <a:solidFill>
                  <a:srgbClr val="0B4F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设计取舍：推荐分数和解释结果保留可追溯字段，展示“为什么推荐该用户”。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heybox/code/bishe/xunzhiyin/lcj-tmp/ppt_media_probe/image10.jpeg"/>
          <p:cNvPicPr>
            <a:picLocks noChangeAspect="1"/>
          </p:cNvPicPr>
          <p:nvPr/>
        </p:nvPicPr>
        <p:blipFill>
          <a:blip r:embed="rId1">
            <a:alphaModFix amt="88000"/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8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347472" cy="6858000"/>
          </a:xfrm>
          <a:prstGeom prst="rect">
            <a:avLst/>
          </a:prstGeom>
          <a:solidFill>
            <a:srgbClr val="0B4F8A"/>
          </a:solidFill>
          <a:ln w="12700">
            <a:solidFill>
              <a:srgbClr val="0B4F8A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96112" y="1920240"/>
            <a:ext cx="1280160" cy="749808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200" b="1" dirty="0">
                <a:solidFill>
                  <a:srgbClr val="57C6D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</a:t>
            </a:r>
            <a:endParaRPr lang="en-US" sz="4200" dirty="0"/>
          </a:p>
        </p:txBody>
      </p:sp>
      <p:sp>
        <p:nvSpPr>
          <p:cNvPr id="6" name="Text 3"/>
          <p:cNvSpPr/>
          <p:nvPr/>
        </p:nvSpPr>
        <p:spPr>
          <a:xfrm>
            <a:off x="2176272" y="1920240"/>
            <a:ext cx="7132320" cy="731520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800" b="1" dirty="0">
                <a:solidFill>
                  <a:srgbClr val="0B4F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系统实现与现场演示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2212848" y="2798064"/>
            <a:ext cx="6949440" cy="411480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5F6F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画像、推荐、解释、反馈闭环</a:t>
            </a:r>
            <a:endParaRPr lang="en-US" sz="2200" dirty="0"/>
          </a:p>
        </p:txBody>
      </p:sp>
      <p:pic>
        <p:nvPicPr>
          <p:cNvPr id="8" name="Image 1" descr="/Users/heybox/code/bishe/xunzhiyin/lcj-tmp/ppt_media_probe/image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8280" y="5980176"/>
            <a:ext cx="2331720" cy="7772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D8EC0"/>
          </a:solidFill>
          <a:ln w="12700">
            <a:solidFill>
              <a:srgbClr val="1D8E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365760" y="-502920"/>
            <a:ext cx="2011680" cy="1005840"/>
          </a:xfrm>
          <a:prstGeom prst="arc">
            <a:avLst/>
          </a:prstGeom>
          <a:noFill/>
          <a:ln w="25400">
            <a:solidFill>
              <a:srgbClr val="57C6D9">
                <a:alpha val="7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292608"/>
            <a:ext cx="9235440" cy="457200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b="1" dirty="0">
                <a:solidFill>
                  <a:srgbClr val="0B4F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用户画像构建流程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58368" y="822960"/>
            <a:ext cx="1143000" cy="0"/>
          </a:xfrm>
          <a:prstGeom prst="line">
            <a:avLst/>
          </a:prstGeom>
          <a:noFill/>
          <a:ln w="38100">
            <a:solidFill>
              <a:srgbClr val="57C6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01952" y="676656"/>
            <a:ext cx="6400800" cy="292608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5F6F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TF-IDF、时间衰减与权重种子共同形成画像向量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9308592" y="384048"/>
            <a:ext cx="1901952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0160">
            <a:solidFill>
              <a:srgbClr val="B9E3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454896" y="457200"/>
            <a:ext cx="1609344" cy="1371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1D8E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 设计与实现</a:t>
            </a:r>
            <a:endParaRPr lang="en-US" sz="1000" dirty="0"/>
          </a:p>
        </p:txBody>
      </p:sp>
      <p:pic>
        <p:nvPicPr>
          <p:cNvPr id="9" name="Image 0" descr="/Users/heybox/code/bishe/xunzhiyin/lcj-tmp/ppt_media_probe/image9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12096" y="6272784"/>
            <a:ext cx="1993392" cy="66751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58368" y="6355080"/>
            <a:ext cx="1097280" cy="228600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6B7D8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 / 20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777240" y="1481328"/>
            <a:ext cx="1609344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15240">
            <a:solidFill>
              <a:srgbClr val="1D8EC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32104" y="1499616"/>
            <a:ext cx="1499616" cy="493776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1D8E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/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2404872" y="1746504"/>
            <a:ext cx="512064" cy="0"/>
          </a:xfrm>
          <a:prstGeom prst="line">
            <a:avLst/>
          </a:prstGeom>
          <a:noFill/>
          <a:ln w="27940">
            <a:solidFill>
              <a:srgbClr val="1D8EC0"/>
            </a:solidFill>
            <a:prstDash val="solid"/>
            <a:headEnd type="none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2999232" y="1481328"/>
            <a:ext cx="1609344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15240">
            <a:solidFill>
              <a:srgbClr val="2E7D3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054096" y="1499616"/>
            <a:ext cx="1499616" cy="493776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2E7D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/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4626864" y="1746504"/>
            <a:ext cx="512064" cy="0"/>
          </a:xfrm>
          <a:prstGeom prst="line">
            <a:avLst/>
          </a:prstGeom>
          <a:noFill/>
          <a:ln w="27940">
            <a:solidFill>
              <a:srgbClr val="1D8EC0"/>
            </a:solidFill>
            <a:prstDash val="solid"/>
            <a:headEnd type="none"/>
            <a:tailEnd type="triangle"/>
          </a:ln>
        </p:spPr>
      </p:sp>
      <p:sp>
        <p:nvSpPr>
          <p:cNvPr id="17" name="Shape 14"/>
          <p:cNvSpPr/>
          <p:nvPr/>
        </p:nvSpPr>
        <p:spPr>
          <a:xfrm>
            <a:off x="5221224" y="1481328"/>
            <a:ext cx="1609344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15240">
            <a:solidFill>
              <a:srgbClr val="EF8C3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276088" y="1499616"/>
            <a:ext cx="1499616" cy="493776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EF8C3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/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6848856" y="1746504"/>
            <a:ext cx="512064" cy="0"/>
          </a:xfrm>
          <a:prstGeom prst="line">
            <a:avLst/>
          </a:prstGeom>
          <a:noFill/>
          <a:ln w="27940">
            <a:solidFill>
              <a:srgbClr val="1D8EC0"/>
            </a:solidFill>
            <a:prstDash val="solid"/>
            <a:headEnd type="none"/>
            <a:tailEnd type="triangle"/>
          </a:ln>
        </p:spPr>
      </p:sp>
      <p:sp>
        <p:nvSpPr>
          <p:cNvPr id="20" name="Shape 17"/>
          <p:cNvSpPr/>
          <p:nvPr/>
        </p:nvSpPr>
        <p:spPr>
          <a:xfrm>
            <a:off x="7443216" y="1481328"/>
            <a:ext cx="1609344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15240">
            <a:solidFill>
              <a:srgbClr val="EF8C3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498080" y="1499616"/>
            <a:ext cx="1499616" cy="493776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EF8C3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/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9070848" y="1746504"/>
            <a:ext cx="512064" cy="0"/>
          </a:xfrm>
          <a:prstGeom prst="line">
            <a:avLst/>
          </a:prstGeom>
          <a:noFill/>
          <a:ln w="27940">
            <a:solidFill>
              <a:srgbClr val="1D8EC0"/>
            </a:solidFill>
            <a:prstDash val="solid"/>
            <a:headEnd type="none"/>
            <a:tailEnd type="triangle"/>
          </a:ln>
        </p:spPr>
      </p:sp>
      <p:sp>
        <p:nvSpPr>
          <p:cNvPr id="23" name="Shape 20"/>
          <p:cNvSpPr/>
          <p:nvPr/>
        </p:nvSpPr>
        <p:spPr>
          <a:xfrm>
            <a:off x="9665208" y="1481328"/>
            <a:ext cx="1609344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15240">
            <a:solidFill>
              <a:srgbClr val="0B4F8A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9720072" y="1499616"/>
            <a:ext cx="1499616" cy="493776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0B4F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/>
            </a:r>
            <a:endParaRPr lang="en-US" sz="1500" dirty="0"/>
          </a:p>
        </p:txBody>
      </p:sp>
      <p:sp>
        <p:nvSpPr>
          <p:cNvPr id="25" name="Shape 22"/>
          <p:cNvSpPr/>
          <p:nvPr/>
        </p:nvSpPr>
        <p:spPr>
          <a:xfrm>
            <a:off x="868680" y="2743200"/>
            <a:ext cx="498348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CEEF4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868680" y="2743200"/>
            <a:ext cx="118872" cy="19202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>
                <a:alpha val="0"/>
              </a:srgbClr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1124712" y="2907792"/>
            <a:ext cx="4572000" cy="310896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2E7D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/>
            </a:r>
            <a:endParaRPr lang="en-US" sz="2200" dirty="0"/>
          </a:p>
        </p:txBody>
      </p:sp>
      <p:sp>
        <p:nvSpPr>
          <p:cNvPr id="28" name="Text 25"/>
          <p:cNvSpPr/>
          <p:nvPr/>
        </p:nvSpPr>
        <p:spPr>
          <a:xfrm>
            <a:off x="1124712" y="3337560"/>
            <a:ext cx="4572000" cy="1207008"/>
          </a:xfrm>
          <a:prstGeom prst="rect">
            <a:avLst/>
          </a:prstGeom>
          <a:noFill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2632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/>
            </a:r>
            <a:endParaRPr lang="en-US" sz="1800" dirty="0"/>
          </a:p>
        </p:txBody>
      </p:sp>
      <p:sp>
        <p:nvSpPr>
          <p:cNvPr id="29" name="Shape 26"/>
          <p:cNvSpPr/>
          <p:nvPr/>
        </p:nvSpPr>
        <p:spPr>
          <a:xfrm>
            <a:off x="6144768" y="2743200"/>
            <a:ext cx="493776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CEEF4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6144768" y="2743200"/>
            <a:ext cx="118872" cy="1920240"/>
          </a:xfrm>
          <a:prstGeom prst="rect">
            <a:avLst/>
          </a:prstGeom>
          <a:solidFill>
            <a:srgbClr val="1D8EC0"/>
          </a:solidFill>
          <a:ln w="12700">
            <a:solidFill>
              <a:srgbClr val="1D8EC0">
                <a:alpha val="0"/>
              </a:srgbClr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400800" y="2907792"/>
            <a:ext cx="4526280" cy="310896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1D8E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/>
            </a:r>
            <a:endParaRPr lang="en-US" sz="2200" dirty="0"/>
          </a:p>
        </p:txBody>
      </p:sp>
      <p:sp>
        <p:nvSpPr>
          <p:cNvPr id="32" name="Text 29"/>
          <p:cNvSpPr/>
          <p:nvPr/>
        </p:nvSpPr>
        <p:spPr>
          <a:xfrm>
            <a:off x="6400800" y="3337560"/>
            <a:ext cx="4526280" cy="1207008"/>
          </a:xfrm>
          <a:prstGeom prst="rect">
            <a:avLst/>
          </a:prstGeom>
          <a:noFill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2632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/>
            </a:r>
            <a:endParaRPr lang="en-US" sz="1800" dirty="0"/>
          </a:p>
        </p:txBody>
      </p:sp>
      <p:pic>
        <p:nvPicPr>
          <p:cNvPr id="33" name="v3_profile_flo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000" y="1330000"/>
            <a:ext cx="11350000" cy="4760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D8EC0"/>
          </a:solidFill>
          <a:ln w="12700">
            <a:solidFill>
              <a:srgbClr val="1D8E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365760" y="-502920"/>
            <a:ext cx="2011680" cy="1005840"/>
          </a:xfrm>
          <a:prstGeom prst="arc">
            <a:avLst/>
          </a:prstGeom>
          <a:noFill/>
          <a:ln w="25400">
            <a:solidFill>
              <a:srgbClr val="57C6D9">
                <a:alpha val="7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292608"/>
            <a:ext cx="9235440" cy="457200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b="1" dirty="0">
                <a:solidFill>
                  <a:srgbClr val="0B4F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匹配推荐生成流程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58368" y="822960"/>
            <a:ext cx="1143000" cy="0"/>
          </a:xfrm>
          <a:prstGeom prst="line">
            <a:avLst/>
          </a:prstGeom>
          <a:noFill/>
          <a:ln w="38100">
            <a:solidFill>
              <a:srgbClr val="57C6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01952" y="676656"/>
            <a:ext cx="6400800" cy="292608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5F6F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召回、相似度排序、场景重排与可信连接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9308592" y="384048"/>
            <a:ext cx="1901952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0160">
            <a:solidFill>
              <a:srgbClr val="B9E3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454896" y="457200"/>
            <a:ext cx="1609344" cy="1371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1D8E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 设计与实现</a:t>
            </a:r>
            <a:endParaRPr lang="en-US" sz="1000" dirty="0"/>
          </a:p>
        </p:txBody>
      </p:sp>
      <p:pic>
        <p:nvPicPr>
          <p:cNvPr id="9" name="Image 0" descr="/Users/heybox/code/bishe/xunzhiyin/lcj-tmp/ppt_media_probe/image9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12096" y="6272784"/>
            <a:ext cx="1993392" cy="66751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58368" y="6355080"/>
            <a:ext cx="1097280" cy="228600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6B7D8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11 / 20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713232" y="1325880"/>
            <a:ext cx="2487168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CEEF4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13232" y="1325880"/>
            <a:ext cx="118872" cy="2286000"/>
          </a:xfrm>
          <a:prstGeom prst="rect">
            <a:avLst/>
          </a:prstGeom>
          <a:solidFill>
            <a:srgbClr val="1D8EC0"/>
          </a:solidFill>
          <a:ln w="12700">
            <a:solidFill>
              <a:srgbClr val="1D8EC0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69264" y="1490472"/>
            <a:ext cx="2075688" cy="310896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1D8E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/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969264" y="1920240"/>
            <a:ext cx="2075688" cy="1572768"/>
          </a:xfrm>
          <a:prstGeom prst="rect">
            <a:avLst/>
          </a:prstGeom>
          <a:noFill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2632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/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3547872" y="1325880"/>
            <a:ext cx="2487168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CEEF4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547872" y="1325880"/>
            <a:ext cx="118872" cy="22860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803904" y="1490472"/>
            <a:ext cx="2075688" cy="310896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2E7D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/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3803904" y="1920240"/>
            <a:ext cx="2075688" cy="1572768"/>
          </a:xfrm>
          <a:prstGeom prst="rect">
            <a:avLst/>
          </a:prstGeom>
          <a:noFill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2632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/>
            </a:r>
            <a:endParaRPr lang="en-US" sz="1800" dirty="0"/>
          </a:p>
        </p:txBody>
      </p:sp>
      <p:sp>
        <p:nvSpPr>
          <p:cNvPr id="19" name="Shape 16"/>
          <p:cNvSpPr/>
          <p:nvPr/>
        </p:nvSpPr>
        <p:spPr>
          <a:xfrm>
            <a:off x="6382512" y="1325880"/>
            <a:ext cx="2487168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CEEF4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382512" y="1325880"/>
            <a:ext cx="118872" cy="2286000"/>
          </a:xfrm>
          <a:prstGeom prst="rect">
            <a:avLst/>
          </a:prstGeom>
          <a:solidFill>
            <a:srgbClr val="EF8C31"/>
          </a:solidFill>
          <a:ln w="12700">
            <a:solidFill>
              <a:srgbClr val="EF8C31">
                <a:alpha val="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638544" y="1490472"/>
            <a:ext cx="2075688" cy="310896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EF8C3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/>
            </a:r>
            <a:endParaRPr lang="en-US" sz="2200" dirty="0"/>
          </a:p>
        </p:txBody>
      </p:sp>
      <p:sp>
        <p:nvSpPr>
          <p:cNvPr id="22" name="Text 19"/>
          <p:cNvSpPr/>
          <p:nvPr/>
        </p:nvSpPr>
        <p:spPr>
          <a:xfrm>
            <a:off x="6638544" y="1920240"/>
            <a:ext cx="2075688" cy="1572768"/>
          </a:xfrm>
          <a:prstGeom prst="rect">
            <a:avLst/>
          </a:prstGeom>
          <a:noFill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2632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/>
            </a:r>
            <a:endParaRPr lang="en-US" sz="1800" dirty="0"/>
          </a:p>
        </p:txBody>
      </p:sp>
      <p:sp>
        <p:nvSpPr>
          <p:cNvPr id="23" name="Shape 20"/>
          <p:cNvSpPr/>
          <p:nvPr/>
        </p:nvSpPr>
        <p:spPr>
          <a:xfrm>
            <a:off x="9217152" y="1325880"/>
            <a:ext cx="2487168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CEEF4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9217152" y="1325880"/>
            <a:ext cx="118872" cy="228600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>
                <a:alpha val="0"/>
              </a:srgbClr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9473184" y="1490472"/>
            <a:ext cx="2075688" cy="310896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C6282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/>
            </a:r>
            <a:endParaRPr lang="en-US" sz="2200" dirty="0"/>
          </a:p>
        </p:txBody>
      </p:sp>
      <p:sp>
        <p:nvSpPr>
          <p:cNvPr id="26" name="Text 23"/>
          <p:cNvSpPr/>
          <p:nvPr/>
        </p:nvSpPr>
        <p:spPr>
          <a:xfrm>
            <a:off x="9473184" y="1920240"/>
            <a:ext cx="2075688" cy="1572768"/>
          </a:xfrm>
          <a:prstGeom prst="rect">
            <a:avLst/>
          </a:prstGeom>
          <a:noFill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2632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/>
            </a:r>
            <a:endParaRPr lang="en-US" sz="1800" dirty="0"/>
          </a:p>
        </p:txBody>
      </p:sp>
      <p:sp>
        <p:nvSpPr>
          <p:cNvPr id="27" name="Shape 24"/>
          <p:cNvSpPr/>
          <p:nvPr/>
        </p:nvSpPr>
        <p:spPr>
          <a:xfrm>
            <a:off x="1005840" y="4434840"/>
            <a:ext cx="996696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D6EBF2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1207008" y="4617720"/>
            <a:ext cx="9555480" cy="310896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0B4F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/>
            </a:r>
            <a:endParaRPr lang="en-US" sz="2200" dirty="0"/>
          </a:p>
        </p:txBody>
      </p:sp>
      <p:pic>
        <p:nvPicPr>
          <p:cNvPr id="29" name="v3_recommend_flo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000" y="1300000"/>
            <a:ext cx="11350000" cy="5050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D8EC0"/>
          </a:solidFill>
          <a:ln w="12700">
            <a:solidFill>
              <a:srgbClr val="1D8E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365760" y="-502920"/>
            <a:ext cx="2011680" cy="1005840"/>
          </a:xfrm>
          <a:prstGeom prst="arc">
            <a:avLst/>
          </a:prstGeom>
          <a:noFill/>
          <a:ln w="25400">
            <a:solidFill>
              <a:srgbClr val="57C6D9">
                <a:alpha val="7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292608"/>
            <a:ext cx="9235440" cy="457200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b="1" dirty="0">
                <a:solidFill>
                  <a:srgbClr val="0B4F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场景重排机制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58368" y="822960"/>
            <a:ext cx="1143000" cy="0"/>
          </a:xfrm>
          <a:prstGeom prst="line">
            <a:avLst/>
          </a:prstGeom>
          <a:noFill/>
          <a:ln w="38100">
            <a:solidFill>
              <a:srgbClr val="57C6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01952" y="676656"/>
            <a:ext cx="6400800" cy="292608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5F6F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学习、社团、兴趣三类场景采用不同权重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9308592" y="384048"/>
            <a:ext cx="1901952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0160">
            <a:solidFill>
              <a:srgbClr val="B9E3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454896" y="457200"/>
            <a:ext cx="1609344" cy="1371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1D8E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 算法与测试</a:t>
            </a:r>
            <a:endParaRPr lang="en-US" sz="1000" dirty="0"/>
          </a:p>
        </p:txBody>
      </p:sp>
      <p:pic>
        <p:nvPicPr>
          <p:cNvPr id="9" name="Image 0" descr="/Users/heybox/code/bishe/xunzhiyin/lcj-tmp/ppt_media_probe/image9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12096" y="6272784"/>
            <a:ext cx="1993392" cy="66751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58368" y="6355080"/>
            <a:ext cx="1097280" cy="228600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6B7D8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12 / 20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777240" y="1143000"/>
            <a:ext cx="10561320" cy="530352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0160">
            <a:solidFill>
              <a:srgbClr val="D8EAF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60120" y="1216152"/>
            <a:ext cx="475488" cy="237744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0B4F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Study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627632" y="1216152"/>
            <a:ext cx="1828800" cy="237744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2632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学习搭子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3337560" y="1216152"/>
            <a:ext cx="7086600" cy="237744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5F6F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专业相关 0.112；年级接近 0.060；社团重合 0.016</a:t>
            </a:r>
            <a:endParaRPr lang="en-US" sz="1700" dirty="0"/>
          </a:p>
        </p:txBody>
      </p:sp>
      <p:sp>
        <p:nvSpPr>
          <p:cNvPr id="15" name="Shape 12"/>
          <p:cNvSpPr/>
          <p:nvPr/>
        </p:nvSpPr>
        <p:spPr>
          <a:xfrm>
            <a:off x="777240" y="1856232"/>
            <a:ext cx="10561320" cy="530352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0160">
            <a:solidFill>
              <a:srgbClr val="D8EAF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60120" y="1929384"/>
            <a:ext cx="475488" cy="237744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0B4F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Club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1627632" y="1929384"/>
            <a:ext cx="1828800" cy="237744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2632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社团搭子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3337560" y="1929384"/>
            <a:ext cx="7086600" cy="237744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5F6F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社团重合 0.072；年级接近 0.050；专业相关 0.040</a:t>
            </a:r>
            <a:endParaRPr lang="en-US" sz="1700" dirty="0"/>
          </a:p>
        </p:txBody>
      </p:sp>
      <p:sp>
        <p:nvSpPr>
          <p:cNvPr id="19" name="Shape 16"/>
          <p:cNvSpPr/>
          <p:nvPr/>
        </p:nvSpPr>
        <p:spPr>
          <a:xfrm>
            <a:off x="777240" y="2569464"/>
            <a:ext cx="10561320" cy="530352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0160">
            <a:solidFill>
              <a:srgbClr val="D8EAF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960120" y="2642616"/>
            <a:ext cx="475488" cy="237744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0B4F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Interest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1627632" y="2642616"/>
            <a:ext cx="1828800" cy="237744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2632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兴趣搭子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3337560" y="2642616"/>
            <a:ext cx="7086600" cy="237744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5F6F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专业相关 0.056；年级接近 0.030；社团重合 0.040</a:t>
            </a:r>
            <a:endParaRPr lang="en-US" sz="1700" dirty="0"/>
          </a:p>
        </p:txBody>
      </p:sp>
      <p:sp>
        <p:nvSpPr>
          <p:cNvPr id="23" name="Shape 20"/>
          <p:cNvSpPr/>
          <p:nvPr/>
        </p:nvSpPr>
        <p:spPr>
          <a:xfrm>
            <a:off x="777240" y="3282696"/>
            <a:ext cx="10561320" cy="530352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0160">
            <a:solidFill>
              <a:srgbClr val="D8EAF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960120" y="3355848"/>
            <a:ext cx="475488" cy="237744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0B4F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TopK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1627632" y="3355848"/>
            <a:ext cx="1828800" cy="237744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2632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轻量探索位</a:t>
            </a:r>
            <a:endParaRPr lang="en-US" sz="1800" dirty="0"/>
          </a:p>
        </p:txBody>
      </p:sp>
      <p:sp>
        <p:nvSpPr>
          <p:cNvPr id="26" name="Text 23"/>
          <p:cNvSpPr/>
          <p:nvPr/>
        </p:nvSpPr>
        <p:spPr>
          <a:xfrm>
            <a:off x="3337560" y="3355848"/>
            <a:ext cx="7086600" cy="237744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5F6F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TopK≥3 时前两位稳定排序，第三位可从合格候选中探索</a:t>
            </a:r>
            <a:endParaRPr lang="en-US" sz="1700" dirty="0"/>
          </a:p>
        </p:txBody>
      </p:sp>
      <p:sp>
        <p:nvSpPr>
          <p:cNvPr id="27" name="Shape 24"/>
          <p:cNvSpPr/>
          <p:nvPr/>
        </p:nvSpPr>
        <p:spPr>
          <a:xfrm>
            <a:off x="777240" y="3995928"/>
            <a:ext cx="10561320" cy="530352"/>
          </a:xfrm>
          <a:prstGeom prst="roundRect">
            <a:avLst>
              <a:gd name="adj" fmla="val 6897"/>
            </a:avLst>
          </a:prstGeom>
          <a:solidFill>
            <a:srgbClr val="FFF7E8"/>
          </a:solidFill>
          <a:ln w="20320">
            <a:solidFill>
              <a:srgbClr val="EF8C31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960120" y="4069080"/>
            <a:ext cx="475488" cy="237744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EF8C3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Score</a:t>
            </a:r>
            <a:endParaRPr lang="en-US" sz="1800" dirty="0"/>
          </a:p>
        </p:txBody>
      </p:sp>
      <p:sp>
        <p:nvSpPr>
          <p:cNvPr id="29" name="Text 26"/>
          <p:cNvSpPr/>
          <p:nvPr/>
        </p:nvSpPr>
        <p:spPr>
          <a:xfrm>
            <a:off x="1627632" y="4069080"/>
            <a:ext cx="1828800" cy="237744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2632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最终排序分</a:t>
            </a:r>
            <a:endParaRPr lang="en-US" sz="1800" dirty="0"/>
          </a:p>
        </p:txBody>
      </p:sp>
      <p:sp>
        <p:nvSpPr>
          <p:cNvPr id="30" name="Text 27"/>
          <p:cNvSpPr/>
          <p:nvPr/>
        </p:nvSpPr>
        <p:spPr>
          <a:xfrm>
            <a:off x="3337560" y="4069080"/>
            <a:ext cx="7086600" cy="237744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5F6F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finalScore = interestScore + campusScore + trustScore × 0.15</a:t>
            </a:r>
            <a:endParaRPr lang="en-US" sz="1700" dirty="0"/>
          </a:p>
        </p:txBody>
      </p:sp>
      <p:sp>
        <p:nvSpPr>
          <p:cNvPr id="31" name="Shape 28"/>
          <p:cNvSpPr/>
          <p:nvPr/>
        </p:nvSpPr>
        <p:spPr>
          <a:xfrm>
            <a:off x="932688" y="4983480"/>
            <a:ext cx="10195560" cy="640080"/>
          </a:xfrm>
          <a:prstGeom prst="roundRect">
            <a:avLst>
              <a:gd name="adj" fmla="val 11429"/>
            </a:avLst>
          </a:prstGeom>
          <a:solidFill>
            <a:srgbClr val="EAF7FC"/>
          </a:solidFill>
          <a:ln w="12700">
            <a:solidFill>
              <a:srgbClr val="C7E9F2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1143000" y="5102352"/>
            <a:ext cx="9738360" cy="274320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0B4F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场景分来自专业、年级、社团规则命中后的加权累加；探索位用于结果选择，不直接作为主排序加权项。</a:t>
            </a:r>
            <a:endParaRPr lang="en-US" sz="1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D8EC0"/>
          </a:solidFill>
          <a:ln w="12700">
            <a:solidFill>
              <a:srgbClr val="1D8E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365760" y="-502920"/>
            <a:ext cx="2011680" cy="1005840"/>
          </a:xfrm>
          <a:prstGeom prst="arc">
            <a:avLst/>
          </a:prstGeom>
          <a:noFill/>
          <a:ln w="25400">
            <a:solidFill>
              <a:srgbClr val="57C6D9">
                <a:alpha val="7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292608"/>
            <a:ext cx="9235440" cy="457200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b="1" dirty="0">
                <a:solidFill>
                  <a:srgbClr val="0B4F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推荐解释与反馈流程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58368" y="822960"/>
            <a:ext cx="1143000" cy="0"/>
          </a:xfrm>
          <a:prstGeom prst="line">
            <a:avLst/>
          </a:prstGeom>
          <a:noFill/>
          <a:ln w="38100">
            <a:solidFill>
              <a:srgbClr val="57C6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01952" y="676656"/>
            <a:ext cx="6400800" cy="292608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5F6F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解释读取排序证据，反馈回写画像更新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9308592" y="384048"/>
            <a:ext cx="1901952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0160">
            <a:solidFill>
              <a:srgbClr val="B9E3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454896" y="457200"/>
            <a:ext cx="1609344" cy="1371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1D8E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 算法与测试</a:t>
            </a:r>
            <a:endParaRPr lang="en-US" sz="1000" dirty="0"/>
          </a:p>
        </p:txBody>
      </p:sp>
      <p:pic>
        <p:nvPicPr>
          <p:cNvPr id="9" name="Image 0" descr="/Users/heybox/code/bishe/xunzhiyin/lcj-tmp/ppt_media_probe/image9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12096" y="6272784"/>
            <a:ext cx="1993392" cy="66751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58368" y="6355080"/>
            <a:ext cx="1097280" cy="228600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6B7D8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13 / 20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786384" y="1234440"/>
            <a:ext cx="3246120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D6EBF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42416" y="1444752"/>
            <a:ext cx="2606040" cy="310896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300" b="1" dirty="0">
                <a:solidFill>
                  <a:srgbClr val="2E7D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/>
            </a:r>
            <a:endParaRPr lang="en-US" sz="2300" dirty="0"/>
          </a:p>
        </p:txBody>
      </p:sp>
      <p:sp>
        <p:nvSpPr>
          <p:cNvPr id="13" name="Shape 10"/>
          <p:cNvSpPr/>
          <p:nvPr/>
        </p:nvSpPr>
        <p:spPr>
          <a:xfrm>
            <a:off x="1216152" y="1956816"/>
            <a:ext cx="2359152" cy="329184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5240">
            <a:solidFill>
              <a:srgbClr val="2E7D3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271016" y="1975104"/>
            <a:ext cx="2249424" cy="292608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E7D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/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1216152" y="2432304"/>
            <a:ext cx="2359152" cy="329184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5240">
            <a:solidFill>
              <a:srgbClr val="2E7D3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271016" y="2450592"/>
            <a:ext cx="2249424" cy="292608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E7D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/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1216152" y="2907792"/>
            <a:ext cx="2359152" cy="329184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5240">
            <a:solidFill>
              <a:srgbClr val="2E7D32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271016" y="2926080"/>
            <a:ext cx="2249424" cy="292608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E7D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/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1216152" y="3383280"/>
            <a:ext cx="2359152" cy="329184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5240">
            <a:solidFill>
              <a:srgbClr val="2E7D32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271016" y="3401568"/>
            <a:ext cx="2249424" cy="292608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E7D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/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4059936" y="2724912"/>
            <a:ext cx="338328" cy="0"/>
          </a:xfrm>
          <a:prstGeom prst="line">
            <a:avLst/>
          </a:prstGeom>
          <a:noFill/>
          <a:ln w="27940">
            <a:solidFill>
              <a:srgbClr val="57C6D9"/>
            </a:solidFill>
            <a:prstDash val="solid"/>
            <a:headEnd type="none"/>
            <a:tailEnd type="triangle"/>
          </a:ln>
        </p:spPr>
      </p:sp>
      <p:sp>
        <p:nvSpPr>
          <p:cNvPr id="22" name="Shape 19"/>
          <p:cNvSpPr/>
          <p:nvPr/>
        </p:nvSpPr>
        <p:spPr>
          <a:xfrm>
            <a:off x="4489704" y="1234440"/>
            <a:ext cx="3246120" cy="3017520"/>
          </a:xfrm>
          <a:prstGeom prst="roundRect">
            <a:avLst>
              <a:gd name="adj" fmla="val 2424"/>
            </a:avLst>
          </a:prstGeom>
          <a:solidFill>
            <a:srgbClr val="EAF7FC"/>
          </a:solidFill>
          <a:ln w="12700">
            <a:solidFill>
              <a:srgbClr val="D6EBF2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745736" y="1444752"/>
            <a:ext cx="2606040" cy="310896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300" b="1" dirty="0">
                <a:solidFill>
                  <a:srgbClr val="1D8E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/>
            </a:r>
            <a:endParaRPr lang="en-US" sz="2300" dirty="0"/>
          </a:p>
        </p:txBody>
      </p:sp>
      <p:sp>
        <p:nvSpPr>
          <p:cNvPr id="24" name="Shape 21"/>
          <p:cNvSpPr/>
          <p:nvPr/>
        </p:nvSpPr>
        <p:spPr>
          <a:xfrm>
            <a:off x="4919472" y="1956816"/>
            <a:ext cx="2359152" cy="329184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5240">
            <a:solidFill>
              <a:srgbClr val="1D8EC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974336" y="1975104"/>
            <a:ext cx="2249424" cy="292608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1D8E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/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4919472" y="2432304"/>
            <a:ext cx="2359152" cy="329184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5240">
            <a:solidFill>
              <a:srgbClr val="1D8EC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974336" y="2450592"/>
            <a:ext cx="2249424" cy="292608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1D8E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/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4919472" y="2907792"/>
            <a:ext cx="2359152" cy="329184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5240">
            <a:solidFill>
              <a:srgbClr val="1D8EC0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974336" y="2926080"/>
            <a:ext cx="2249424" cy="292608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1D8E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/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7763256" y="2724912"/>
            <a:ext cx="338328" cy="0"/>
          </a:xfrm>
          <a:prstGeom prst="line">
            <a:avLst/>
          </a:prstGeom>
          <a:noFill/>
          <a:ln w="27940">
            <a:solidFill>
              <a:srgbClr val="57C6D9"/>
            </a:solidFill>
            <a:prstDash val="solid"/>
            <a:headEnd type="none"/>
            <a:tailEnd type="triangle"/>
          </a:ln>
        </p:spPr>
      </p:sp>
      <p:sp>
        <p:nvSpPr>
          <p:cNvPr id="31" name="Shape 28"/>
          <p:cNvSpPr/>
          <p:nvPr/>
        </p:nvSpPr>
        <p:spPr>
          <a:xfrm>
            <a:off x="8193024" y="1234440"/>
            <a:ext cx="3246120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D6EBF2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449056" y="1444752"/>
            <a:ext cx="2606040" cy="310896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300" b="1" dirty="0">
                <a:solidFill>
                  <a:srgbClr val="C6282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/>
            </a:r>
            <a:endParaRPr lang="en-US" sz="2300" dirty="0"/>
          </a:p>
        </p:txBody>
      </p:sp>
      <p:sp>
        <p:nvSpPr>
          <p:cNvPr id="33" name="Shape 30"/>
          <p:cNvSpPr/>
          <p:nvPr/>
        </p:nvSpPr>
        <p:spPr>
          <a:xfrm>
            <a:off x="8622792" y="1956816"/>
            <a:ext cx="2359152" cy="329184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5240">
            <a:solidFill>
              <a:srgbClr val="C62828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8677656" y="1975104"/>
            <a:ext cx="2249424" cy="292608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C6282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/>
            </a:r>
            <a:endParaRPr lang="en-US" sz="1300" dirty="0"/>
          </a:p>
        </p:txBody>
      </p:sp>
      <p:sp>
        <p:nvSpPr>
          <p:cNvPr id="35" name="Shape 32"/>
          <p:cNvSpPr/>
          <p:nvPr/>
        </p:nvSpPr>
        <p:spPr>
          <a:xfrm>
            <a:off x="8622792" y="2432304"/>
            <a:ext cx="2359152" cy="329184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5240">
            <a:solidFill>
              <a:srgbClr val="C62828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8677656" y="2450592"/>
            <a:ext cx="2249424" cy="292608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C6282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/>
            </a:r>
            <a:endParaRPr lang="en-US" sz="1300" dirty="0"/>
          </a:p>
        </p:txBody>
      </p:sp>
      <p:sp>
        <p:nvSpPr>
          <p:cNvPr id="37" name="Shape 34"/>
          <p:cNvSpPr/>
          <p:nvPr/>
        </p:nvSpPr>
        <p:spPr>
          <a:xfrm>
            <a:off x="8622792" y="2907792"/>
            <a:ext cx="2359152" cy="329184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5240">
            <a:solidFill>
              <a:srgbClr val="C62828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8677656" y="2926080"/>
            <a:ext cx="2249424" cy="292608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C6282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/>
            </a:r>
            <a:endParaRPr lang="en-US" sz="1300" dirty="0"/>
          </a:p>
        </p:txBody>
      </p:sp>
      <p:sp>
        <p:nvSpPr>
          <p:cNvPr id="39" name="Shape 36"/>
          <p:cNvSpPr/>
          <p:nvPr/>
        </p:nvSpPr>
        <p:spPr>
          <a:xfrm>
            <a:off x="8622792" y="3383280"/>
            <a:ext cx="2359152" cy="329184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5240">
            <a:solidFill>
              <a:srgbClr val="C62828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8677656" y="3401568"/>
            <a:ext cx="2249424" cy="292608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C6282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/>
            </a:r>
            <a:endParaRPr lang="en-US" sz="1300" dirty="0"/>
          </a:p>
        </p:txBody>
      </p:sp>
      <p:sp>
        <p:nvSpPr>
          <p:cNvPr id="41" name="Shape 38"/>
          <p:cNvSpPr/>
          <p:nvPr/>
        </p:nvSpPr>
        <p:spPr>
          <a:xfrm>
            <a:off x="896112" y="4681728"/>
            <a:ext cx="102870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EBF2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1143000" y="4892040"/>
            <a:ext cx="1143000" cy="256032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b="1" dirty="0">
                <a:solidFill>
                  <a:srgbClr val="0B4F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/>
            </a:r>
            <a:endParaRPr lang="en-US" sz="2000" dirty="0"/>
          </a:p>
        </p:txBody>
      </p:sp>
      <p:sp>
        <p:nvSpPr>
          <p:cNvPr id="43" name="Text 40"/>
          <p:cNvSpPr/>
          <p:nvPr/>
        </p:nvSpPr>
        <p:spPr>
          <a:xfrm>
            <a:off x="2240280" y="4773168"/>
            <a:ext cx="8732520" cy="548640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700" dirty="0">
                <a:solidFill>
                  <a:srgbClr val="2632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/>
            </a:r>
            <a:endParaRPr lang="en-US" sz="1700" dirty="0"/>
          </a:p>
        </p:txBody>
      </p:sp>
      <p:pic>
        <p:nvPicPr>
          <p:cNvPr id="44" name="v3_explain_feedback_flo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0000" y="1260000"/>
            <a:ext cx="11380000" cy="4740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D8EC0"/>
          </a:solidFill>
          <a:ln w="12700">
            <a:solidFill>
              <a:srgbClr val="1D8E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365760" y="-502920"/>
            <a:ext cx="2011680" cy="1005840"/>
          </a:xfrm>
          <a:prstGeom prst="arc">
            <a:avLst/>
          </a:prstGeom>
          <a:noFill/>
          <a:ln w="25400">
            <a:solidFill>
              <a:srgbClr val="57C6D9">
                <a:alpha val="7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292608"/>
            <a:ext cx="9235440" cy="457200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b="1" dirty="0">
                <a:solidFill>
                  <a:srgbClr val="0B4F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系统界面截图：推荐首页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58368" y="822960"/>
            <a:ext cx="1143000" cy="0"/>
          </a:xfrm>
          <a:prstGeom prst="line">
            <a:avLst/>
          </a:prstGeom>
          <a:noFill/>
          <a:ln w="38100">
            <a:solidFill>
              <a:srgbClr val="57C6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01952" y="676656"/>
            <a:ext cx="6400800" cy="292608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5F6F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推荐结果与操作入口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9308592" y="384048"/>
            <a:ext cx="1901952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0160">
            <a:solidFill>
              <a:srgbClr val="B9E3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454896" y="457200"/>
            <a:ext cx="1609344" cy="1371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1D8E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 算法与测试</a:t>
            </a:r>
            <a:endParaRPr lang="en-US" sz="1000" dirty="0"/>
          </a:p>
        </p:txBody>
      </p:sp>
      <p:pic>
        <p:nvPicPr>
          <p:cNvPr id="9" name="Image 0" descr="/Users/heybox/code/bishe/xunzhiyin/lcj-tmp/ppt_media_probe/image9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12096" y="6272784"/>
            <a:ext cx="1993392" cy="66751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58368" y="6355080"/>
            <a:ext cx="1097280" cy="228600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6B7D8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14 / 20</a:t>
            </a:r>
            <a:endParaRPr lang="en-US" sz="1000" dirty="0"/>
          </a:p>
        </p:txBody>
      </p:sp>
      <p:pic>
        <p:nvPicPr>
          <p:cNvPr id="11" name="Image 1" descr="/Users/heybox/code/bishe/xunzhiyin/docs/generated/figures/ch5-4-home-screensh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0524" y="1133856"/>
            <a:ext cx="5416608" cy="452628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8092440" y="1325880"/>
            <a:ext cx="2971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CEEF4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8092440" y="1325880"/>
            <a:ext cx="118872" cy="1783080"/>
          </a:xfrm>
          <a:prstGeom prst="rect">
            <a:avLst/>
          </a:prstGeom>
          <a:solidFill>
            <a:srgbClr val="1D8EC0"/>
          </a:solidFill>
          <a:ln w="12700">
            <a:solidFill>
              <a:srgbClr val="1D8EC0">
                <a:alpha val="0"/>
              </a:srgbClr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8348472" y="1490472"/>
            <a:ext cx="2560320" cy="310896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1D8E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页面功能</a:t>
            </a:r>
            <a:endParaRPr lang="en-US" sz="2200" dirty="0"/>
          </a:p>
        </p:txBody>
      </p:sp>
      <p:sp>
        <p:nvSpPr>
          <p:cNvPr id="15" name="Text 11"/>
          <p:cNvSpPr/>
          <p:nvPr/>
        </p:nvSpPr>
        <p:spPr>
          <a:xfrm>
            <a:off x="8348472" y="1920240"/>
            <a:ext cx="2560320" cy="1069848"/>
          </a:xfrm>
          <a:prstGeom prst="rect">
            <a:avLst/>
          </a:prstGeom>
          <a:noFill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2632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展示推荐用户、标签、匹配分数、解释入口和反馈操作，用户可直接关注或忽略推荐结果。</a:t>
            </a:r>
            <a:endParaRPr lang="en-US" sz="1800" dirty="0"/>
          </a:p>
        </p:txBody>
      </p:sp>
      <p:sp>
        <p:nvSpPr>
          <p:cNvPr id="16" name="Shape 12"/>
          <p:cNvSpPr/>
          <p:nvPr/>
        </p:nvSpPr>
        <p:spPr>
          <a:xfrm>
            <a:off x="8092440" y="3337560"/>
            <a:ext cx="297180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CEEF4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8092440" y="3337560"/>
            <a:ext cx="118872" cy="1600200"/>
          </a:xfrm>
          <a:prstGeom prst="rect">
            <a:avLst/>
          </a:prstGeom>
          <a:solidFill>
            <a:srgbClr val="EF8C31"/>
          </a:solidFill>
          <a:ln w="12700">
            <a:solidFill>
              <a:srgbClr val="EF8C31">
                <a:alpha val="0"/>
              </a:srgbClr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8348472" y="3502152"/>
            <a:ext cx="2560320" cy="310896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EF8C3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演示重点</a:t>
            </a:r>
            <a:endParaRPr lang="en-US" sz="2200" dirty="0"/>
          </a:p>
        </p:txBody>
      </p:sp>
      <p:sp>
        <p:nvSpPr>
          <p:cNvPr id="19" name="Text 15"/>
          <p:cNvSpPr/>
          <p:nvPr/>
        </p:nvSpPr>
        <p:spPr>
          <a:xfrm>
            <a:off x="8348472" y="3931920"/>
            <a:ext cx="2560320" cy="886968"/>
          </a:xfrm>
          <a:prstGeom prst="rect">
            <a:avLst/>
          </a:prstGeom>
          <a:noFill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2632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现场演示会展示推荐列表生成、解释弹窗和反馈后画像变化。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D8EC0"/>
          </a:solidFill>
          <a:ln w="12700">
            <a:solidFill>
              <a:srgbClr val="1D8E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365760" y="-502920"/>
            <a:ext cx="2011680" cy="1005840"/>
          </a:xfrm>
          <a:prstGeom prst="arc">
            <a:avLst/>
          </a:prstGeom>
          <a:noFill/>
          <a:ln w="25400">
            <a:solidFill>
              <a:srgbClr val="57C6D9">
                <a:alpha val="7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292608"/>
            <a:ext cx="9235440" cy="457200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b="1" dirty="0">
                <a:solidFill>
                  <a:srgbClr val="0B4F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系统界面截图：透明链路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58368" y="822960"/>
            <a:ext cx="1143000" cy="0"/>
          </a:xfrm>
          <a:prstGeom prst="line">
            <a:avLst/>
          </a:prstGeom>
          <a:noFill/>
          <a:ln w="38100">
            <a:solidFill>
              <a:srgbClr val="57C6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01952" y="676656"/>
            <a:ext cx="6400800" cy="292608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5F6F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从输入到输出的可复核过程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9308592" y="384048"/>
            <a:ext cx="1901952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0160">
            <a:solidFill>
              <a:srgbClr val="B9E3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454896" y="457200"/>
            <a:ext cx="1609344" cy="1371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1D8E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 算法与测试</a:t>
            </a:r>
            <a:endParaRPr lang="en-US" sz="1000" dirty="0"/>
          </a:p>
        </p:txBody>
      </p:sp>
      <p:pic>
        <p:nvPicPr>
          <p:cNvPr id="9" name="Image 0" descr="/Users/heybox/code/bishe/xunzhiyin/lcj-tmp/ppt_media_probe/image9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12096" y="6272784"/>
            <a:ext cx="1993392" cy="66751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58368" y="6355080"/>
            <a:ext cx="1097280" cy="228600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6B7D8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15 / 20</a:t>
            </a:r>
            <a:endParaRPr lang="en-US" sz="1000" dirty="0"/>
          </a:p>
        </p:txBody>
      </p:sp>
      <p:pic>
        <p:nvPicPr>
          <p:cNvPr id="11" name="Image 1" descr="/Users/heybox/code/bishe/xunzhiyin/docs/generated/figures/ch5-8-pipeline-screensh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1466812"/>
            <a:ext cx="7360920" cy="383293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8366760" y="1417320"/>
            <a:ext cx="27432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CEEF4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8366760" y="1417320"/>
            <a:ext cx="118872" cy="196596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>
                <a:alpha val="0"/>
              </a:srgbClr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8622792" y="1581912"/>
            <a:ext cx="2331720" cy="310896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2E7D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链路展示</a:t>
            </a:r>
            <a:endParaRPr lang="en-US" sz="2200" dirty="0"/>
          </a:p>
        </p:txBody>
      </p:sp>
      <p:sp>
        <p:nvSpPr>
          <p:cNvPr id="15" name="Text 11"/>
          <p:cNvSpPr/>
          <p:nvPr/>
        </p:nvSpPr>
        <p:spPr>
          <a:xfrm>
            <a:off x="8622792" y="2011680"/>
            <a:ext cx="2331720" cy="1252728"/>
          </a:xfrm>
          <a:prstGeom prst="rect">
            <a:avLst/>
          </a:prstGeom>
          <a:noFill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2632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页面展示画像读取、候选召回、排序重排、解释生成和评估数据，便于检查每一步输入输出。</a:t>
            </a:r>
            <a:endParaRPr lang="en-US" sz="1800" dirty="0"/>
          </a:p>
        </p:txBody>
      </p:sp>
      <p:sp>
        <p:nvSpPr>
          <p:cNvPr id="16" name="Shape 12"/>
          <p:cNvSpPr/>
          <p:nvPr/>
        </p:nvSpPr>
        <p:spPr>
          <a:xfrm>
            <a:off x="8366760" y="3657600"/>
            <a:ext cx="2743200" cy="183388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CEEF4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8366760" y="3657600"/>
            <a:ext cx="118745" cy="177419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>
                <a:alpha val="0"/>
              </a:srgbClr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8622792" y="3822192"/>
            <a:ext cx="2331720" cy="310896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C6282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答辩用途</a:t>
            </a:r>
            <a:endParaRPr lang="en-US" sz="2200" dirty="0"/>
          </a:p>
        </p:txBody>
      </p:sp>
      <p:sp>
        <p:nvSpPr>
          <p:cNvPr id="19" name="Text 15"/>
          <p:cNvSpPr/>
          <p:nvPr/>
        </p:nvSpPr>
        <p:spPr>
          <a:xfrm>
            <a:off x="8622792" y="4251960"/>
            <a:ext cx="2331720" cy="859536"/>
          </a:xfrm>
          <a:prstGeom prst="rect">
            <a:avLst/>
          </a:prstGeom>
          <a:noFill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2632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用于回答“为什么推荐”“算法如何参与”“LLM 起什么作用”等问题。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D8EC0"/>
          </a:solidFill>
          <a:ln w="12700">
            <a:solidFill>
              <a:srgbClr val="1D8E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365760" y="-502920"/>
            <a:ext cx="2011680" cy="1005840"/>
          </a:xfrm>
          <a:prstGeom prst="arc">
            <a:avLst/>
          </a:prstGeom>
          <a:noFill/>
          <a:ln w="25400">
            <a:solidFill>
              <a:srgbClr val="57C6D9">
                <a:alpha val="7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292608"/>
            <a:ext cx="9235440" cy="457200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b="1" dirty="0">
                <a:solidFill>
                  <a:srgbClr val="0B4F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现场演示路径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58368" y="822960"/>
            <a:ext cx="1143000" cy="0"/>
          </a:xfrm>
          <a:prstGeom prst="line">
            <a:avLst/>
          </a:prstGeom>
          <a:noFill/>
          <a:ln w="38100">
            <a:solidFill>
              <a:srgbClr val="57C6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01952" y="676656"/>
            <a:ext cx="6400800" cy="292608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5F6F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按固定顺序展示系统闭环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9308592" y="384048"/>
            <a:ext cx="1901952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0160">
            <a:solidFill>
              <a:srgbClr val="B9E3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454896" y="457200"/>
            <a:ext cx="1609344" cy="1371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1D8E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 算法与测试</a:t>
            </a:r>
            <a:endParaRPr lang="en-US" sz="1000" dirty="0"/>
          </a:p>
        </p:txBody>
      </p:sp>
      <p:pic>
        <p:nvPicPr>
          <p:cNvPr id="9" name="Image 0" descr="/Users/heybox/code/bishe/xunzhiyin/lcj-tmp/ppt_media_probe/image9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12096" y="6272784"/>
            <a:ext cx="1993392" cy="66751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58368" y="6355080"/>
            <a:ext cx="1097280" cy="228600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6B7D8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16 / 20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914400" y="1289304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 w="15240">
            <a:solidFill>
              <a:srgbClr val="1D8EC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69264" y="1307592"/>
            <a:ext cx="393192" cy="466344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1D8E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691640" y="1252728"/>
            <a:ext cx="2468880" cy="310896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0B4F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初始化演示数据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4160520" y="1252728"/>
            <a:ext cx="6675120" cy="310896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5F6F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/api/admin/mock/init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914400" y="2340864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 w="15240">
            <a:solidFill>
              <a:srgbClr val="1D8EC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69264" y="2359152"/>
            <a:ext cx="393192" cy="466344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1D8E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1691640" y="2304288"/>
            <a:ext cx="2468880" cy="310896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0B4F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打开推荐首页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4160520" y="2304288"/>
            <a:ext cx="6675120" cy="310896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5F6F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查看推荐卡片与解释入口</a:t>
            </a:r>
            <a:endParaRPr lang="en-US" sz="1800" dirty="0"/>
          </a:p>
        </p:txBody>
      </p:sp>
      <p:sp>
        <p:nvSpPr>
          <p:cNvPr id="19" name="Shape 16"/>
          <p:cNvSpPr/>
          <p:nvPr/>
        </p:nvSpPr>
        <p:spPr>
          <a:xfrm>
            <a:off x="914400" y="3392424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 w="15240">
            <a:solidFill>
              <a:srgbClr val="1D8EC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969264" y="3410712"/>
            <a:ext cx="393192" cy="466344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1D8E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1691640" y="3355848"/>
            <a:ext cx="2468880" cy="310896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0B4F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查看透明链路</a:t>
            </a:r>
            <a:endParaRPr lang="en-US" sz="2200" dirty="0"/>
          </a:p>
        </p:txBody>
      </p:sp>
      <p:sp>
        <p:nvSpPr>
          <p:cNvPr id="22" name="Text 19"/>
          <p:cNvSpPr/>
          <p:nvPr/>
        </p:nvSpPr>
        <p:spPr>
          <a:xfrm>
            <a:off x="4160520" y="3355848"/>
            <a:ext cx="6675120" cy="310896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5F6F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pipeline.html?userId=2001&amp;topK=3</a:t>
            </a:r>
            <a:endParaRPr lang="en-US" sz="1800" dirty="0"/>
          </a:p>
        </p:txBody>
      </p:sp>
      <p:sp>
        <p:nvSpPr>
          <p:cNvPr id="23" name="Shape 20"/>
          <p:cNvSpPr/>
          <p:nvPr/>
        </p:nvSpPr>
        <p:spPr>
          <a:xfrm>
            <a:off x="914400" y="4443984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 w="15240">
            <a:solidFill>
              <a:srgbClr val="1D8EC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969264" y="4462272"/>
            <a:ext cx="393192" cy="466344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1D8E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1691640" y="4407408"/>
            <a:ext cx="2468880" cy="310896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0B4F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提交关注或忽略</a:t>
            </a:r>
            <a:endParaRPr lang="en-US" sz="2200" dirty="0"/>
          </a:p>
        </p:txBody>
      </p:sp>
      <p:sp>
        <p:nvSpPr>
          <p:cNvPr id="26" name="Text 23"/>
          <p:cNvSpPr/>
          <p:nvPr/>
        </p:nvSpPr>
        <p:spPr>
          <a:xfrm>
            <a:off x="4160520" y="4407408"/>
            <a:ext cx="6675120" cy="310896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5F6F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观察反馈记录与画像更新</a:t>
            </a:r>
            <a:endParaRPr lang="en-US" sz="1800" dirty="0"/>
          </a:p>
        </p:txBody>
      </p:sp>
      <p:sp>
        <p:nvSpPr>
          <p:cNvPr id="27" name="Shape 24"/>
          <p:cNvSpPr/>
          <p:nvPr/>
        </p:nvSpPr>
        <p:spPr>
          <a:xfrm>
            <a:off x="914400" y="5504688"/>
            <a:ext cx="9921240" cy="502920"/>
          </a:xfrm>
          <a:prstGeom prst="roundRect">
            <a:avLst>
              <a:gd name="adj" fmla="val 14545"/>
            </a:avLst>
          </a:prstGeom>
          <a:solidFill>
            <a:srgbClr val="EAF7FC"/>
          </a:solidFill>
          <a:ln w="12700">
            <a:solidFill>
              <a:srgbClr val="C7E9F2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1143000" y="5596128"/>
            <a:ext cx="9326880" cy="228600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0B4F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演示口径：先展示工程链路，再说明算法分数和解释证据来源。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D8EC0"/>
          </a:solidFill>
          <a:ln w="12700">
            <a:solidFill>
              <a:srgbClr val="1D8E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365760" y="-502920"/>
            <a:ext cx="2011680" cy="1005840"/>
          </a:xfrm>
          <a:prstGeom prst="arc">
            <a:avLst/>
          </a:prstGeom>
          <a:noFill/>
          <a:ln w="25400">
            <a:solidFill>
              <a:srgbClr val="57C6D9">
                <a:alpha val="7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292608"/>
            <a:ext cx="9235440" cy="457200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b="1" dirty="0">
                <a:solidFill>
                  <a:srgbClr val="0B4F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测试设计与实验结果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58368" y="822960"/>
            <a:ext cx="1143000" cy="0"/>
          </a:xfrm>
          <a:prstGeom prst="line">
            <a:avLst/>
          </a:prstGeom>
          <a:noFill/>
          <a:ln w="38100">
            <a:solidFill>
              <a:srgbClr val="57C6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01952" y="676656"/>
            <a:ext cx="6400800" cy="292608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5F6F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用同一数据集比较策略差异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9308592" y="384048"/>
            <a:ext cx="1901952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0160">
            <a:solidFill>
              <a:srgbClr val="B9E3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454896" y="457200"/>
            <a:ext cx="1609344" cy="1371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1D8E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 算法与测试</a:t>
            </a:r>
            <a:endParaRPr lang="en-US" sz="1000" dirty="0"/>
          </a:p>
        </p:txBody>
      </p:sp>
      <p:pic>
        <p:nvPicPr>
          <p:cNvPr id="9" name="Image 0" descr="/Users/heybox/code/bishe/xunzhiyin/lcj-tmp/ppt_media_probe/image9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12096" y="6272784"/>
            <a:ext cx="1993392" cy="66751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58368" y="6355080"/>
            <a:ext cx="1097280" cy="228600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6B7D8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17 / 20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749808" y="1188720"/>
            <a:ext cx="324612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CEEF4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49808" y="1188720"/>
            <a:ext cx="118872" cy="1508760"/>
          </a:xfrm>
          <a:prstGeom prst="rect">
            <a:avLst/>
          </a:prstGeom>
          <a:solidFill>
            <a:srgbClr val="1D8EC0"/>
          </a:solidFill>
          <a:ln w="12700">
            <a:solidFill>
              <a:srgbClr val="1D8EC0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005840" y="1353312"/>
            <a:ext cx="2834640" cy="310896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1D8E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数据集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1005840" y="1783080"/>
            <a:ext cx="2834640" cy="795528"/>
          </a:xfrm>
          <a:prstGeom prst="rect">
            <a:avLst/>
          </a:prstGeom>
          <a:noFill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2632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18 用户 / 36 标签 / 130 关系</a:t>
            </a:r>
            <a:endParaRPr lang="en-US" sz="18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2632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扩展：100 / 300 / 500 用户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4453128" y="1188720"/>
            <a:ext cx="324612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CEEF4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453128" y="1188720"/>
            <a:ext cx="118872" cy="1508760"/>
          </a:xfrm>
          <a:prstGeom prst="rect">
            <a:avLst/>
          </a:prstGeom>
          <a:solidFill>
            <a:srgbClr val="EF8C31"/>
          </a:solidFill>
          <a:ln w="12700">
            <a:solidFill>
              <a:srgbClr val="EF8C31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709160" y="1353312"/>
            <a:ext cx="2834640" cy="310896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EF8C3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Baseline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4709160" y="1783080"/>
            <a:ext cx="2834640" cy="795528"/>
          </a:xfrm>
          <a:prstGeom prst="rect">
            <a:avLst/>
          </a:prstGeom>
          <a:noFill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2632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A1 重叠  A2 Jaccard  A3 TF-IDF</a:t>
            </a:r>
            <a:endParaRPr lang="en-US" sz="18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2632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A4 改进 TF-IDF  A5 完整链路</a:t>
            </a:r>
            <a:endParaRPr lang="en-US" sz="1800" dirty="0"/>
          </a:p>
        </p:txBody>
      </p:sp>
      <p:sp>
        <p:nvSpPr>
          <p:cNvPr id="19" name="Shape 16"/>
          <p:cNvSpPr/>
          <p:nvPr/>
        </p:nvSpPr>
        <p:spPr>
          <a:xfrm>
            <a:off x="8156448" y="1188720"/>
            <a:ext cx="324612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CEEF4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8156448" y="1188720"/>
            <a:ext cx="118872" cy="150876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>
                <a:alpha val="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412480" y="1353312"/>
            <a:ext cx="2834640" cy="310896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2E7D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指标</a:t>
            </a:r>
            <a:endParaRPr lang="en-US" sz="2200" dirty="0"/>
          </a:p>
        </p:txBody>
      </p:sp>
      <p:sp>
        <p:nvSpPr>
          <p:cNvPr id="22" name="Text 19"/>
          <p:cNvSpPr/>
          <p:nvPr/>
        </p:nvSpPr>
        <p:spPr>
          <a:xfrm>
            <a:off x="8412480" y="1783080"/>
            <a:ext cx="2834640" cy="795528"/>
          </a:xfrm>
          <a:prstGeom prst="rect">
            <a:avLst/>
          </a:prstGeom>
          <a:noFill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2632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Precision@K / NDCG@K / HitRate@K</a:t>
            </a:r>
            <a:endParaRPr lang="en-US" sz="18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2632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覆盖率 / 响应时间 / 解释覆盖率</a:t>
            </a:r>
            <a:endParaRPr lang="en-US" sz="1800" dirty="0"/>
          </a:p>
        </p:txBody>
      </p:sp>
      <p:sp>
        <p:nvSpPr>
          <p:cNvPr id="23" name="Shape 20"/>
          <p:cNvSpPr/>
          <p:nvPr/>
        </p:nvSpPr>
        <p:spPr>
          <a:xfrm>
            <a:off x="841248" y="3154680"/>
            <a:ext cx="1051560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D6EBF2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078992" y="3401568"/>
            <a:ext cx="1417320" cy="274320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00" b="1" dirty="0">
                <a:solidFill>
                  <a:srgbClr val="0B4F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关键观察</a:t>
            </a:r>
            <a:endParaRPr lang="en-US" sz="2100" dirty="0"/>
          </a:p>
        </p:txBody>
      </p:sp>
      <p:sp>
        <p:nvSpPr>
          <p:cNvPr id="25" name="Text 22"/>
          <p:cNvSpPr/>
          <p:nvPr/>
        </p:nvSpPr>
        <p:spPr>
          <a:xfrm>
            <a:off x="2359152" y="3200400"/>
            <a:ext cx="9006840" cy="1042416"/>
          </a:xfrm>
          <a:prstGeom prst="rect">
            <a:avLst/>
          </a:prstGeom>
          <a:noFill/>
        </p:spPr>
        <p:txBody>
          <a:bodyPr wrap="square" lIns="1524" tIns="1524" rIns="1524" bIns="1524" rtlCol="0" anchor="ctr">
            <a:normAutofit/>
          </a:bodyPr>
          <a:lstStyle/>
          <a:p>
            <a:pPr>
              <a:lnSpc>
                <a:spcPct val="108000"/>
              </a:lnSpc>
            </a:pPr>
            <a:r>
              <a:rPr lang="en-US" sz="1800" dirty="0">
                <a:solidFill>
                  <a:srgbClr val="2632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Precision@K：TopK 相关占比；NDCG@K：高相关结果是否靠前</a:t>
            </a:r>
            <a:endParaRPr lang="en-US" sz="1800" dirty="0"/>
          </a:p>
          <a:p>
            <a:pPr>
              <a:lnSpc>
                <a:spcPct val="108000"/>
              </a:lnSpc>
            </a:pPr>
            <a:r>
              <a:rPr lang="en-US" sz="1800" dirty="0">
                <a:solidFill>
                  <a:srgbClr val="2632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HitRate@K：至少命中一个相关候选；覆盖率：不同候选覆盖程度</a:t>
            </a:r>
            <a:endParaRPr lang="en-US" sz="1800" dirty="0"/>
          </a:p>
          <a:p>
            <a:pPr>
              <a:lnSpc>
                <a:spcPct val="108000"/>
              </a:lnSpc>
            </a:pPr>
            <a:r>
              <a:rPr lang="en-US" sz="1800" dirty="0">
                <a:solidFill>
                  <a:srgbClr val="2632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A5：加入场景规则、可信连接和轻量探索位，更符合校园匹配目标</a:t>
            </a:r>
            <a:endParaRPr lang="en-US" sz="1800" dirty="0"/>
          </a:p>
        </p:txBody>
      </p:sp>
      <p:sp>
        <p:nvSpPr>
          <p:cNvPr id="26" name="Shape 23"/>
          <p:cNvSpPr/>
          <p:nvPr/>
        </p:nvSpPr>
        <p:spPr>
          <a:xfrm>
            <a:off x="841248" y="4846320"/>
            <a:ext cx="10515600" cy="658368"/>
          </a:xfrm>
          <a:prstGeom prst="roundRect">
            <a:avLst>
              <a:gd name="adj" fmla="val 11111"/>
            </a:avLst>
          </a:prstGeom>
          <a:solidFill>
            <a:srgbClr val="EAF7FC"/>
          </a:solidFill>
          <a:ln w="12700">
            <a:solidFill>
              <a:srgbClr val="C7E9F2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1078992" y="5010912"/>
            <a:ext cx="9966960" cy="237744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0B4F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结论边界：当前指标用于工程验证和算法取舍，不将演示数据结果表述为真实校园线上满意度。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D8EC0"/>
          </a:solidFill>
          <a:ln w="12700">
            <a:solidFill>
              <a:srgbClr val="1D8E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365760" y="-502920"/>
            <a:ext cx="2011680" cy="1005840"/>
          </a:xfrm>
          <a:prstGeom prst="arc">
            <a:avLst/>
          </a:prstGeom>
          <a:noFill/>
          <a:ln w="25400">
            <a:solidFill>
              <a:srgbClr val="57C6D9">
                <a:alpha val="7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292608"/>
            <a:ext cx="9235440" cy="457200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b="1" dirty="0">
                <a:solidFill>
                  <a:srgbClr val="0B4F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项目亮点与实现难点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58368" y="822960"/>
            <a:ext cx="1143000" cy="0"/>
          </a:xfrm>
          <a:prstGeom prst="line">
            <a:avLst/>
          </a:prstGeom>
          <a:noFill/>
          <a:ln w="38100">
            <a:solidFill>
              <a:srgbClr val="57C6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01952" y="676656"/>
            <a:ext cx="6400800" cy="292608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5F6F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工程闭环与可解释性是重点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9308592" y="384048"/>
            <a:ext cx="1901952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0160">
            <a:solidFill>
              <a:srgbClr val="B9E3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454896" y="457200"/>
            <a:ext cx="1609344" cy="1371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1D8E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 演示与总结</a:t>
            </a:r>
            <a:endParaRPr lang="en-US" sz="1000" dirty="0"/>
          </a:p>
        </p:txBody>
      </p:sp>
      <p:pic>
        <p:nvPicPr>
          <p:cNvPr id="9" name="Image 0" descr="/Users/heybox/code/bishe/xunzhiyin/lcj-tmp/ppt_media_probe/image9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12096" y="6272784"/>
            <a:ext cx="1993392" cy="66751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58368" y="6355080"/>
            <a:ext cx="1097280" cy="228600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6B7D8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18 / 20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777240" y="1325880"/>
            <a:ext cx="502920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CEEF4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77240" y="1325880"/>
            <a:ext cx="118872" cy="1600200"/>
          </a:xfrm>
          <a:prstGeom prst="rect">
            <a:avLst/>
          </a:prstGeom>
          <a:solidFill>
            <a:srgbClr val="1D8EC0"/>
          </a:solidFill>
          <a:ln w="12700">
            <a:solidFill>
              <a:srgbClr val="1D8EC0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033272" y="1490472"/>
            <a:ext cx="4617720" cy="310896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1D8E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链路一致性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1033272" y="1920240"/>
            <a:ext cx="4617720" cy="886968"/>
          </a:xfrm>
          <a:prstGeom prst="rect">
            <a:avLst/>
          </a:prstGeom>
          <a:noFill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2632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排序证据、解释文本和透明链路共用同一批中间结果，降低展示与真实计算不一致的风险。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6236208" y="1325880"/>
            <a:ext cx="498348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CEEF4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236208" y="1325880"/>
            <a:ext cx="118872" cy="16002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492240" y="1490472"/>
            <a:ext cx="4572000" cy="310896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2E7D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画像区分度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6492240" y="1920240"/>
            <a:ext cx="4572000" cy="886968"/>
          </a:xfrm>
          <a:prstGeom prst="rect">
            <a:avLst/>
          </a:prstGeom>
          <a:noFill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2632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使用改进 TF-IDF 和时间衰减，避免共同热门标签直接主导推荐结果。</a:t>
            </a:r>
            <a:endParaRPr lang="en-US" sz="1800" dirty="0"/>
          </a:p>
        </p:txBody>
      </p:sp>
      <p:sp>
        <p:nvSpPr>
          <p:cNvPr id="19" name="Shape 16"/>
          <p:cNvSpPr/>
          <p:nvPr/>
        </p:nvSpPr>
        <p:spPr>
          <a:xfrm>
            <a:off x="777240" y="3337560"/>
            <a:ext cx="502920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CEEF4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77240" y="3337560"/>
            <a:ext cx="118872" cy="1600200"/>
          </a:xfrm>
          <a:prstGeom prst="rect">
            <a:avLst/>
          </a:prstGeom>
          <a:solidFill>
            <a:srgbClr val="EF8C31"/>
          </a:solidFill>
          <a:ln w="12700">
            <a:solidFill>
              <a:srgbClr val="EF8C31">
                <a:alpha val="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033272" y="3502152"/>
            <a:ext cx="4617720" cy="310896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EF8C3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多场景适配</a:t>
            </a:r>
            <a:endParaRPr lang="en-US" sz="2200" dirty="0"/>
          </a:p>
        </p:txBody>
      </p:sp>
      <p:sp>
        <p:nvSpPr>
          <p:cNvPr id="22" name="Text 19"/>
          <p:cNvSpPr/>
          <p:nvPr/>
        </p:nvSpPr>
        <p:spPr>
          <a:xfrm>
            <a:off x="1033272" y="3931920"/>
            <a:ext cx="4617720" cy="886968"/>
          </a:xfrm>
          <a:prstGeom prst="rect">
            <a:avLst/>
          </a:prstGeom>
          <a:noFill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2632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study 场景强化专业和年级，club 场景强化社团重合，interest 场景保持兴趣匹配并支持轻量探索位。</a:t>
            </a:r>
            <a:endParaRPr lang="en-US" sz="1800" dirty="0"/>
          </a:p>
        </p:txBody>
      </p:sp>
      <p:sp>
        <p:nvSpPr>
          <p:cNvPr id="23" name="Shape 20"/>
          <p:cNvSpPr/>
          <p:nvPr/>
        </p:nvSpPr>
        <p:spPr>
          <a:xfrm>
            <a:off x="6236208" y="3337560"/>
            <a:ext cx="498348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CEEF4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236208" y="3337560"/>
            <a:ext cx="118872" cy="160020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>
                <a:alpha val="0"/>
              </a:srgbClr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492240" y="3502152"/>
            <a:ext cx="4572000" cy="310896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C6282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工程可靠性</a:t>
            </a:r>
            <a:endParaRPr lang="en-US" sz="2200" dirty="0"/>
          </a:p>
        </p:txBody>
      </p:sp>
      <p:sp>
        <p:nvSpPr>
          <p:cNvPr id="26" name="Text 23"/>
          <p:cNvSpPr/>
          <p:nvPr/>
        </p:nvSpPr>
        <p:spPr>
          <a:xfrm>
            <a:off x="6492240" y="3931920"/>
            <a:ext cx="4572000" cy="886968"/>
          </a:xfrm>
          <a:prstGeom prst="rect">
            <a:avLst/>
          </a:prstGeom>
          <a:noFill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2632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解释改写接口不可用时保留规则解释，Redis 缓存和倒排索引提高重复查询效率。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D8EC0"/>
          </a:solidFill>
          <a:ln w="12700">
            <a:solidFill>
              <a:srgbClr val="1D8E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365760" y="-502920"/>
            <a:ext cx="2011680" cy="1005840"/>
          </a:xfrm>
          <a:prstGeom prst="arc">
            <a:avLst/>
          </a:prstGeom>
          <a:noFill/>
          <a:ln w="25400">
            <a:solidFill>
              <a:srgbClr val="57C6D9">
                <a:alpha val="7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292608"/>
            <a:ext cx="9235440" cy="457200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b="1" dirty="0">
                <a:solidFill>
                  <a:srgbClr val="0B4F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总结与展望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58368" y="822960"/>
            <a:ext cx="1143000" cy="0"/>
          </a:xfrm>
          <a:prstGeom prst="line">
            <a:avLst/>
          </a:prstGeom>
          <a:noFill/>
          <a:ln w="38100">
            <a:solidFill>
              <a:srgbClr val="57C6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01952" y="676656"/>
            <a:ext cx="6400800" cy="292608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5F6F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完成情况、局限与后续方向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9308592" y="384048"/>
            <a:ext cx="1901952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0160">
            <a:solidFill>
              <a:srgbClr val="B9E3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454896" y="457200"/>
            <a:ext cx="1609344" cy="1371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1D8E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 演示与总结</a:t>
            </a:r>
            <a:endParaRPr lang="en-US" sz="1000" dirty="0"/>
          </a:p>
        </p:txBody>
      </p:sp>
      <p:pic>
        <p:nvPicPr>
          <p:cNvPr id="9" name="Image 0" descr="/Users/heybox/code/bishe/xunzhiyin/lcj-tmp/ppt_media_probe/image9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12096" y="6272784"/>
            <a:ext cx="1993392" cy="66751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58368" y="6355080"/>
            <a:ext cx="1097280" cy="228600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6B7D8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19 / 20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822960" y="1325880"/>
            <a:ext cx="5257800" cy="2971800"/>
          </a:xfrm>
          <a:prstGeom prst="roundRect">
            <a:avLst>
              <a:gd name="adj" fmla="val 2462"/>
            </a:avLst>
          </a:prstGeom>
          <a:solidFill>
            <a:srgbClr val="FFFFFF"/>
          </a:solidFill>
          <a:ln w="12700">
            <a:solidFill>
              <a:srgbClr val="DCEEF4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22960" y="1325880"/>
            <a:ext cx="118872" cy="2971800"/>
          </a:xfrm>
          <a:prstGeom prst="rect">
            <a:avLst/>
          </a:prstGeom>
          <a:solidFill>
            <a:srgbClr val="0B4F8A"/>
          </a:solidFill>
          <a:ln w="12700">
            <a:solidFill>
              <a:srgbClr val="0B4F8A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078992" y="1490472"/>
            <a:ext cx="4846320" cy="310896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0B4F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总结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1078992" y="1920240"/>
            <a:ext cx="4846320" cy="2258568"/>
          </a:xfrm>
          <a:prstGeom prst="rect">
            <a:avLst/>
          </a:prstGeom>
          <a:noFill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2632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系统已完成校园社交匹配的基础数据维护、画像构建、推荐生成、解释反馈、透明链路和评估展示，能够支撑本地演示和论文中的工程验证。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6263640" y="1325880"/>
            <a:ext cx="4892040" cy="2971800"/>
          </a:xfrm>
          <a:prstGeom prst="roundRect">
            <a:avLst>
              <a:gd name="adj" fmla="val 2462"/>
            </a:avLst>
          </a:prstGeom>
          <a:solidFill>
            <a:srgbClr val="FFFFFF"/>
          </a:solidFill>
          <a:ln w="12700">
            <a:solidFill>
              <a:srgbClr val="DCEEF4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263640" y="1325880"/>
            <a:ext cx="118872" cy="29718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519672" y="1490472"/>
            <a:ext cx="4480560" cy="310896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2E7D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展望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6519672" y="1920240"/>
            <a:ext cx="4480560" cy="2258568"/>
          </a:xfrm>
          <a:prstGeom prst="rect">
            <a:avLst/>
          </a:prstGeom>
          <a:noFill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2632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后续可扩大真实用户数据规模，引入更充分的在线反馈，继续调优场景权重，并在隐私保护和冷启动方面完善工程策略。</a:t>
            </a:r>
            <a:endParaRPr lang="en-US" sz="1800" dirty="0"/>
          </a:p>
        </p:txBody>
      </p:sp>
      <p:sp>
        <p:nvSpPr>
          <p:cNvPr id="19" name="Shape 16"/>
          <p:cNvSpPr/>
          <p:nvPr/>
        </p:nvSpPr>
        <p:spPr>
          <a:xfrm>
            <a:off x="1143000" y="4956048"/>
            <a:ext cx="9555480" cy="585216"/>
          </a:xfrm>
          <a:prstGeom prst="roundRect">
            <a:avLst>
              <a:gd name="adj" fmla="val 12500"/>
            </a:avLst>
          </a:prstGeom>
          <a:solidFill>
            <a:srgbClr val="EAF7FC"/>
          </a:solidFill>
          <a:ln w="12700">
            <a:solidFill>
              <a:srgbClr val="C7E9F2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371600" y="5074920"/>
            <a:ext cx="9098280" cy="256032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0B4F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核心结论：本项目重点完成了“可运行、可解释、可复核”的校园推荐系统工程闭环。</a:t>
            </a:r>
            <a:endParaRPr lang="en-US" sz="1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heybox/code/bishe/xunzhiyin/lcj-tmp/ppt_media_probe/image10.jpeg"/>
          <p:cNvPicPr>
            <a:picLocks noChangeAspect="1"/>
          </p:cNvPicPr>
          <p:nvPr/>
        </p:nvPicPr>
        <p:blipFill>
          <a:blip r:embed="rId1">
            <a:alphaModFix amt="82000"/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3246120" y="2148840"/>
            <a:ext cx="5440680" cy="685800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4200" b="1" dirty="0">
                <a:solidFill>
                  <a:srgbClr val="0B4F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谢谢各位老师</a:t>
            </a:r>
            <a:endParaRPr lang="en-US" sz="4200" dirty="0"/>
          </a:p>
        </p:txBody>
      </p:sp>
      <p:sp>
        <p:nvSpPr>
          <p:cNvPr id="5" name="Text 2"/>
          <p:cNvSpPr/>
          <p:nvPr/>
        </p:nvSpPr>
        <p:spPr>
          <a:xfrm>
            <a:off x="3794760" y="3090672"/>
            <a:ext cx="4343400" cy="438912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400" dirty="0">
                <a:solidFill>
                  <a:srgbClr val="1D8E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请批评指正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4069080" y="4206240"/>
            <a:ext cx="3520440" cy="329184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00" dirty="0">
                <a:solidFill>
                  <a:srgbClr val="5F6F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林乘吉  |  2026年6月</a:t>
            </a:r>
            <a:endParaRPr lang="en-US" sz="1800" dirty="0"/>
          </a:p>
        </p:txBody>
      </p:sp>
      <p:pic>
        <p:nvPicPr>
          <p:cNvPr id="7" name="Image 1" descr="/Users/heybox/code/bishe/xunzhiyin/lcj-tmp/ppt_media_probe/image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5166360"/>
            <a:ext cx="3154680" cy="10515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3334</Words>
  <Application>WPS 文字</Application>
  <PresentationFormat>On-screen Show (16:9)</PresentationFormat>
  <Paragraphs>489</Paragraphs>
  <Slides>20</Slides>
  <Notes>20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36" baseType="lpstr">
      <vt:lpstr>Arial</vt:lpstr>
      <vt:lpstr>宋体</vt:lpstr>
      <vt:lpstr>Wingdings</vt:lpstr>
      <vt:lpstr>微软雅黑</vt:lpstr>
      <vt:lpstr>汉仪旗黑</vt:lpstr>
      <vt:lpstr>微软雅黑</vt:lpstr>
      <vt:lpstr>微软雅黑</vt:lpstr>
      <vt:lpstr>微软雅黑</vt:lpstr>
      <vt:lpstr>宋体</vt:lpstr>
      <vt:lpstr>Arial Unicode MS</vt:lpstr>
      <vt:lpstr>等线</vt:lpstr>
      <vt:lpstr>汉仪中等线KW</vt:lpstr>
      <vt:lpstr>Calibri</vt:lpstr>
      <vt:lpstr>Helvetica Neue</vt:lpstr>
      <vt:lpstr>汉仪书宋二KW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北京交通大学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基于 Spring Boot 的校园社交匹配与可解释推荐系统的设计与实现</dc:title>
  <dc:creator>Lin Chengji</dc:creator>
  <dc:subject>毕业设计答辩</dc:subject>
  <cp:lastModifiedBy>Codex</cp:lastModifiedBy>
  <cp:revision>3</cp:revision>
  <dcterms:created xsi:type="dcterms:W3CDTF">2026-06-05T14:21:09Z</dcterms:created>
  <dcterms:modified xsi:type="dcterms:W3CDTF">2026-06-05T14:21:09Z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2052-12.1.26016.26016</vt:lpwstr>
  </property>
  <property fmtid="{D5CDD505-2E9C-101B-9397-08002B2CF9AE}" pid="3" name="ICV">
    <vt:lpwstr>E9B853F45C30874B2120216A775BD68F_42</vt:lpwstr>
  </property>
</Properties>
</file>