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1170432"/>
            <a:ext cx="7882128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426464"/>
            <a:ext cx="7315200" cy="144475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的校园社交匹配与可解释推荐系统的设计与实现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987552" y="3063240"/>
            <a:ext cx="274320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毕业设计答辩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87552" y="4133088"/>
            <a:ext cx="6035040" cy="9144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学院：软件学院    专业：软件工程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姓名：林乘吉      学号：22301095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2026年6月</a:t>
            </a:r>
            <a:endParaRPr lang="en-US" sz="2000" dirty="0"/>
          </a:p>
        </p:txBody>
      </p:sp>
      <p:pic>
        <p:nvPicPr>
          <p:cNvPr id="9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5797296"/>
            <a:ext cx="27432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汇报目录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300" dirty="0"/>
          </a:p>
        </p:txBody>
      </p:sp>
      <p:pic>
        <p:nvPicPr>
          <p:cNvPr id="7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20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14173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167335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938528" y="165506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背景与目标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38528" y="211226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3-4 页：来源、目标、完成情况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67335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196328" y="165506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设计与实现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196328" y="211226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5-11 页：链路、架构、模块、数据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14400" y="35661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382219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938528" y="380390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算法与测试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938528" y="426110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12-17 页：算法、解释、指标、边界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172200" y="35661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82219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196328" y="380390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演示与总结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196328" y="426110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18-20 页：亮点、演示、展望、收束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题目来源与设计目标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从真实校园交往需求出发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背景与目标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261872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261872"/>
            <a:ext cx="118872" cy="18745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426464"/>
            <a:ext cx="4754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题目来源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856232"/>
            <a:ext cx="4754880" cy="11612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校园学习搭子、社团搭子和兴趣同频匹配需求较常见，但常依赖熟人圈、微信群或论坛发帖，匹配覆盖面和持续反馈能力有限。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72200" y="1261872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261872"/>
            <a:ext cx="118872" cy="187452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426464"/>
            <a:ext cx="4754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主要问题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28232" y="1856232"/>
            <a:ext cx="4754880" cy="11612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仅看共同标签容易被热门标签支配；推荐理由不透明，用户难以判断结果来源；关注和忽略行为难以及时回到画像更新。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2960" y="3675888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33856" y="3877056"/>
            <a:ext cx="205740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毕业设计目标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3181985" y="3774440"/>
            <a:ext cx="8001000" cy="109728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 Spring Boot 后端与浏览器端展示页面，形成画像、召回、排序、重排、解释和反馈闭环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在工程可运行的前提下，对基础推荐策略进行比较，给出可复核的评估指标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工作内容与完成情况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围绕推荐闭环拆分实现任务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背景与目标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325880"/>
            <a:ext cx="118872" cy="347472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用户与标签维护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926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完成用户、标签、用户标签关系的增删查改和演示数据初始化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4787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47872" y="1325880"/>
            <a:ext cx="118872" cy="3474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0390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用户画像构建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0390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 TF-IDF 权重、时间衰减、Top-K 裁剪和画像缓存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8251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82512" y="1325880"/>
            <a:ext cx="118872" cy="347472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854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匹配推荐生成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63854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完成倒排召回、相似度排序、场景重排、可信连接和探索分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21715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17152" y="1325880"/>
            <a:ext cx="118872" cy="3474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7318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解释与反馈闭环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47318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完成规则解释、LLM 改写、关注/忽略反馈和评估导出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系统整体链路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推荐结果从数据到解释均可追踪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用户标签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09397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62432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画像构建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96849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9884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5371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候选召回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84301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37336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相似度排序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71753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24788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0275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场景重排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59205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12240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7727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解释反馈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60120" y="3154680"/>
            <a:ext cx="10195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34440" y="3364992"/>
            <a:ext cx="9692640" cy="10515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用户标签关系进入画像计算，生成可缓存的标签权重向量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召回与排序阶段输出候选用户、基础分、规则分和最终分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解释文本读取共同标签贡献和规则命中证据，反馈行为再更新画像状态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系统总体架构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三层结构支撑推荐链路运行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8680" y="123444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144475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前端展示层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06324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1810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首页推荐列表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透明链路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3562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解释反馈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58952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4438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评估对比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" y="265176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8EE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286207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服务业务层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306324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1810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用户服务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画像服务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08076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3562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召回排序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58952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4438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解释服务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09828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5314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反馈服务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68680" y="406908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43000" y="427939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数据支撑层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3063240" y="4279265"/>
            <a:ext cx="1448435" cy="42037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17850" y="4297680"/>
            <a:ext cx="1448435" cy="384175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持久化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57200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2686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缓存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08076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3562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倒排索引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58952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4438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解释改写接口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989320" y="2221992"/>
            <a:ext cx="0" cy="374904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989320" y="3639312"/>
            <a:ext cx="0" cy="374904"/>
          </a:xfrm>
          <a:prstGeom prst="line">
            <a:avLst/>
          </a:prstGeom>
          <a:noFill/>
          <a:ln w="27940">
            <a:solidFill>
              <a:srgbClr val="EF8C31"/>
            </a:solidFill>
            <a:prstDash val="solid"/>
            <a:headEnd type="none"/>
            <a:tailEnd type="triangle"/>
          </a:ln>
        </p:spPr>
      </p:sp>
      <p:sp>
        <p:nvSpPr>
          <p:cNvPr id="45" name="Text 42"/>
          <p:cNvSpPr/>
          <p:nvPr/>
        </p:nvSpPr>
        <p:spPr>
          <a:xfrm>
            <a:off x="1170432" y="5486400"/>
            <a:ext cx="868680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只承担解释文本改写，核心推荐分数仍由可复核的规则与相似度计算产生。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系统功能模块结构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模块边界与实现内容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115568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00984" y="1133856"/>
            <a:ext cx="5285232" cy="53035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校园社交匹配与可解释推荐系统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943600" y="1682496"/>
            <a:ext cx="0" cy="420624"/>
          </a:xfrm>
          <a:prstGeom prst="line">
            <a:avLst/>
          </a:prstGeom>
          <a:noFill/>
          <a:ln w="27940">
            <a:solidFill>
              <a:srgbClr val="0B4F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54480" y="2103120"/>
            <a:ext cx="8796528" cy="0"/>
          </a:xfrm>
          <a:prstGeom prst="line">
            <a:avLst/>
          </a:prstGeom>
          <a:noFill/>
          <a:ln w="27940">
            <a:solidFill>
              <a:srgbClr val="0B4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32704" y="1874520"/>
            <a:ext cx="621792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包含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600200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5800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2523744"/>
            <a:ext cx="118872" cy="150876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基础数据维护</a:t>
            </a:r>
            <a:endParaRPr lang="en-US" b="1" dirty="0">
              <a:solidFill>
                <a:srgbClr val="1D8EC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41832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用户、标签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关系数据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867912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953512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53512" y="2523744"/>
            <a:ext cx="118872" cy="1508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9544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</a:t>
            </a:r>
            <a:r>
              <a:rPr lang="en-US" sz="225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</a:t>
            </a: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209544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画像向量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Top-K标签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135624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221224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21224" y="2523744"/>
            <a:ext cx="118872" cy="150876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77256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</a:t>
            </a:r>
            <a:r>
              <a:rPr lang="en-US" sz="225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</a:t>
            </a: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477256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召回、排序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重排、可信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403336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488936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88936" y="2523744"/>
            <a:ext cx="118872" cy="1508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44968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解释反馈闭环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744968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证据解释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反馈更新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0671048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756648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56648" y="2523744"/>
            <a:ext cx="118872" cy="15087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012680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评估链路展示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10012680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指标对比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导出复核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14400" y="4297680"/>
            <a:ext cx="10058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模块之间按“数据准备 → 画像计算 → 推荐生成 → 解释反馈 → 评估复核”的顺序协作。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数据与缓存设计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持久化事实与高频读取分离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37160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371600"/>
            <a:ext cx="118872" cy="224028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536192"/>
            <a:ext cx="4846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数据表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965960"/>
            <a:ext cx="4846320" cy="15270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user、tag、user_tag_relation、user_profile、recommendation_result、recommendation_explanation、user_feedback 等表保存业务事实。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371600"/>
            <a:ext cx="4892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371600"/>
            <a:ext cx="118872" cy="2240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536192"/>
            <a:ext cx="448056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缓存与索引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19672" y="1965960"/>
            <a:ext cx="4480560" cy="15270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画像缓存、推荐缓存和标签倒排索引用于减少重复计算，并支撑候选用户快速召回。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05840" y="41605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4334256"/>
            <a:ext cx="941832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设计取舍：推荐分数和解释结果保留可追溯字段，展示“为什么推荐该用户”。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1920240"/>
            <a:ext cx="1280160" cy="7498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176272" y="1920240"/>
            <a:ext cx="7132320" cy="7315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系统实现与现场演示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212848" y="2798064"/>
            <a:ext cx="694944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画像、推荐、解释、反馈闭环</a:t>
            </a:r>
            <a:endParaRPr lang="en-US" sz="2200" dirty="0"/>
          </a:p>
        </p:txBody>
      </p:sp>
      <p:pic>
        <p:nvPicPr>
          <p:cNvPr id="8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980176"/>
            <a:ext cx="233172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用户画像构建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从标签关系计算用户兴趣向量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标签关系读取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404872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99232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4096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TF-IDF 权重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26864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21224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76088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时间衰减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48856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443216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 裁剪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070848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5208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20072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画像缓存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68680" y="27432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680" y="2743200"/>
            <a:ext cx="118872" cy="1920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24712" y="290779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核心作用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124712" y="3337560"/>
            <a:ext cx="4572000" cy="12070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画像把用户标签转成可比较的权重向量，热门标签被适当降权，近期行为获得更高贡献。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144768" y="274320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44768" y="2743200"/>
            <a:ext cx="118872" cy="192024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2907792"/>
            <a:ext cx="45262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工程实现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400800" y="3337560"/>
            <a:ext cx="4526280" cy="12070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画像结果写入持久化表，并同步缓存到 Redis，后续召回、排序、解释均复用同一份画像数据。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匹配推荐生成机制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从候选用户到最终排序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325880"/>
            <a:ext cx="118872" cy="228600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倒排召回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926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按画像标签找到候选用户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4787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47872" y="1325880"/>
            <a:ext cx="118872" cy="228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0390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相似度排序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0390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计算画像向量余弦相似度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8251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82512" y="1325880"/>
            <a:ext cx="118872" cy="22860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854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场景重排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63854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学习、社团、兴趣模式权重调整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21715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17152" y="1325880"/>
            <a:ext cx="118872" cy="2286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7318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可信连接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47318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结合资料完整度、标签丰富度和历史关注分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05840" y="4434840"/>
            <a:ext cx="9966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07008" y="4617720"/>
            <a:ext cx="95554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最终分数 = 兴趣分 + 场景分 + 可信分 × 0.15；兴趣搭子 TopK≥3 时保留前两位稳定排序，第三位可作为轻量探索位。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算法选择与对比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用逐步增强的推荐策略说明选择过程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143000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1216152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27632" y="1216152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标签重叠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37560" y="1216152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实现简单，但热门标签影响较大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77240" y="1856232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1929384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27632" y="1929384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Jaccard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337560" y="1929384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考虑集合比例，但忽略标签权重差异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77240" y="2569464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2642616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27632" y="2642616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TF-IDF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337560" y="2642616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降低热门标签影响，画像区分度提升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77240" y="3282696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3355848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27632" y="3355848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 TF-IDF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337560" y="3355848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加入时间衰减和 Top-K 裁剪，更贴近近期兴趣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777240" y="3995928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7E8"/>
          </a:solidFill>
          <a:ln w="20320">
            <a:solidFill>
              <a:srgbClr val="EF8C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" y="4069080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27632" y="4069080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完整链路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337560" y="4069080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画像、召回、排序、场景重排、可信连接与探索位共同形成结果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32688" y="4983480"/>
            <a:ext cx="10195560" cy="640080"/>
          </a:xfrm>
          <a:prstGeom prst="roundRect">
            <a:avLst>
              <a:gd name="adj" fmla="val 11429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102352"/>
            <a:ext cx="9738360" cy="2743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 采用当前工程口径：finalScore = interestScore + campusScore + trustScore × 0.15；探索位用于 TopK 结果选择，不直接作为主排序加权项。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推荐解释与反馈闭环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解释不是黑盒生成，而是绑定排序证据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638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证据输入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121615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7101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matchedTags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1615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7101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contribution_json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1615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7101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matchedRules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16152" y="3383280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71016" y="3401568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trustReasons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059936" y="2724912"/>
            <a:ext cx="338328" cy="0"/>
          </a:xfrm>
          <a:prstGeom prst="line">
            <a:avLst/>
          </a:prstGeom>
          <a:noFill/>
          <a:ln w="27940">
            <a:solidFill>
              <a:srgbClr val="57C6D9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48970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EAF7FC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4573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解释生成</a:t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491947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7433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规则模板组织理由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91947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7433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只做文案改写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91947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7433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失败时规则解释回退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763256" y="2724912"/>
            <a:ext cx="338328" cy="0"/>
          </a:xfrm>
          <a:prstGeom prst="line">
            <a:avLst/>
          </a:prstGeom>
          <a:noFill/>
          <a:ln w="27940">
            <a:solidFill>
              <a:srgbClr val="57C6D9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19302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4905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反馈更新</a:t>
            </a:r>
            <a:endParaRPr lang="en-US" sz="2300" dirty="0"/>
          </a:p>
        </p:txBody>
      </p:sp>
      <p:sp>
        <p:nvSpPr>
          <p:cNvPr id="33" name="Shape 30"/>
          <p:cNvSpPr/>
          <p:nvPr/>
        </p:nvSpPr>
        <p:spPr>
          <a:xfrm>
            <a:off x="862279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7765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follow / ignore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62279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7765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feedback_time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62279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7765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updated_by=feedback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622792" y="3383280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677656" y="3401568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profile_version+1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96112" y="4681728"/>
            <a:ext cx="10287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43000" y="4892040"/>
            <a:ext cx="114300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工程取舍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2240280" y="4773168"/>
            <a:ext cx="8732520" cy="5486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推荐结果保存 recall、rank、rerank、final 与 trace；解释表保存 evidence 和 contribution，保证首页、链路页、测试复核读取同一份证据。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系统界面截图：推荐首页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推荐结果与操作入口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20</a:t>
            </a:r>
            <a:endParaRPr lang="en-US" sz="1000" dirty="0"/>
          </a:p>
        </p:txBody>
      </p:sp>
      <p:pic>
        <p:nvPicPr>
          <p:cNvPr id="11" name="Image 1" descr="/Users/heybox/code/bishe/xunzhiyin/docs/generated/figures/ch5-4-hom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524" y="1133856"/>
            <a:ext cx="5416608" cy="45262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2440" y="1325880"/>
            <a:ext cx="2971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92440" y="1325880"/>
            <a:ext cx="118872" cy="178308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48472" y="1490472"/>
            <a:ext cx="2560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页面功能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48472" y="1920240"/>
            <a:ext cx="2560320" cy="10698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展示推荐用户、标签、匹配分数、解释入口和反馈操作，用户可直接关注或忽略推荐结果。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92440" y="333756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92440" y="3337560"/>
            <a:ext cx="118872" cy="16002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48472" y="3502152"/>
            <a:ext cx="2560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演示重点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348472" y="3931920"/>
            <a:ext cx="25603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现场演示会展示推荐列表生成、解释弹窗和反馈后画像变化。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系统界面截图：透明链路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从输入到输出的可复核过程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20</a:t>
            </a:r>
            <a:endParaRPr lang="en-US" sz="1000" dirty="0"/>
          </a:p>
        </p:txBody>
      </p:sp>
      <p:pic>
        <p:nvPicPr>
          <p:cNvPr id="11" name="Image 1" descr="/Users/heybox/code/bishe/xunzhiyin/docs/generated/figures/ch5-8-pipelin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66812"/>
            <a:ext cx="7360920" cy="38329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66760" y="141732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66760" y="1417320"/>
            <a:ext cx="118872" cy="1965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22792" y="1581912"/>
            <a:ext cx="2331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链路展示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622792" y="2011680"/>
            <a:ext cx="2331720" cy="12527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页面展示画像读取、候选召回、排序重排、解释生成和评估数据，便于检查每一步输入输出。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366760" y="3657600"/>
            <a:ext cx="2743200" cy="1833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3657600"/>
            <a:ext cx="118745" cy="177419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22792" y="3822192"/>
            <a:ext cx="2331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答辩用途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622792" y="4251960"/>
            <a:ext cx="2331720" cy="859536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用于回答“为什么推荐”“算法如何参与”“LLM 起什么作用”等问题。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按固定顺序展示系统闭环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128930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130759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125272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初始化演示数据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160520" y="125272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/api/admin/mock/init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4400" y="234086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" y="235915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91640" y="230428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打开推荐首页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160520" y="230428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查看推荐卡片与解释入口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14400" y="339242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341071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91640" y="335584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查看透明链路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160520" y="335584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pipeline.html?userId=2001&amp;topK=3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14400" y="444398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" y="446227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91640" y="440740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提交关注或忽略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160520" y="440740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观察反馈记录与画像更新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14400" y="5504688"/>
            <a:ext cx="9921240" cy="502920"/>
          </a:xfrm>
          <a:prstGeom prst="roundRect">
            <a:avLst>
              <a:gd name="adj" fmla="val 14545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5596128"/>
            <a:ext cx="93268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演示口径：先展示工程链路，再说明算法分数和解释证据来源。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测试设计与实验结果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用同一数据集比较策略差异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11887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1188720"/>
            <a:ext cx="118872" cy="150876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1353312"/>
            <a:ext cx="28346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数据集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1783080"/>
            <a:ext cx="283464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用户 / 36 标签 / 130 关系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扩展：100 / 300 / 500 用户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453128" y="11887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53128" y="1188720"/>
            <a:ext cx="118872" cy="150876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1353312"/>
            <a:ext cx="28346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Baseline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709160" y="1783080"/>
            <a:ext cx="283464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 重叠  A2 Jaccard  A3 TF-IDF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 改进 TF-IDF  A5 完整链路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156448" y="11887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56448" y="1188720"/>
            <a:ext cx="118872" cy="1508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1353312"/>
            <a:ext cx="28346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412480" y="1783080"/>
            <a:ext cx="283464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Precision@K=TopK 相关占比；NDCG@K=排序质量；HitRate@K=至少命中一个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覆盖率=不同候选覆盖；响应时间=平均耗时；解释覆盖率=理由生成比例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41248" y="3154680"/>
            <a:ext cx="10515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3401568"/>
            <a:ext cx="1417320" cy="2743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关键观察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2359152" y="3200400"/>
            <a:ext cx="9006840" cy="104241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A1：直观但结果容易集中到高重合候选</a:t>
            </a:r>
            <a:endParaRPr lang="en-US" sz="1800" dirty="0"/>
          </a:p>
          <a:p>
            <a:pPr>
              <a:lnSpc>
                <a:spcPct val="108000"/>
              </a:lnSpc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A4：画像权重、时间衰减和 Top-K 裁剪，为解释提供结构化依据</a:t>
            </a:r>
            <a:endParaRPr lang="en-US" sz="1800" dirty="0"/>
          </a:p>
          <a:p>
            <a:pPr>
              <a:lnSpc>
                <a:spcPct val="108000"/>
              </a:lnSpc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A5：加入场景规则、可信连接和轻量探索位，更符合校园匹配目标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41248" y="484632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78992" y="5010912"/>
            <a:ext cx="996696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结论边界：当前指标用于工程验证和算法取舍，不将演示数据结果表述为真实校园线上满意度。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项目亮点与实现难点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工程闭环与可解释性是重点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演示与总结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32588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1325880"/>
            <a:ext cx="118872" cy="160020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1490472"/>
            <a:ext cx="4617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链路一致性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33272" y="1920240"/>
            <a:ext cx="46177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排序证据、解释文本和透明链路共用同一批中间结果，降低展示与真实计算不一致的风险。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36208" y="1325880"/>
            <a:ext cx="4983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25880"/>
            <a:ext cx="118872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49047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画像区分度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92240" y="1920240"/>
            <a:ext cx="457200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使用改进 TF-IDF 和时间衰减，避免共同热门标签直接主导推荐结果。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77240" y="333756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337560"/>
            <a:ext cx="118872" cy="16002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" y="3502152"/>
            <a:ext cx="4617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多场景适配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033272" y="3931920"/>
            <a:ext cx="46177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study 场景强化专业和年级，club 场景强化社团重合，interest 场景保持兴趣匹配并支持轻量探索位。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36208" y="3337560"/>
            <a:ext cx="4983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36208" y="3337560"/>
            <a:ext cx="118872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350215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工程可靠性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492240" y="3931920"/>
            <a:ext cx="457200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解释改写接口不可用时保留规则解释，Redis 缓存和倒排索引提高重复查询效率。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完成情况、局限与后续方向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演示与总结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325880"/>
            <a:ext cx="5257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325880"/>
            <a:ext cx="118872" cy="29718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490472"/>
            <a:ext cx="4846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920240"/>
            <a:ext cx="4846320" cy="22585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系统已完成校园社交匹配的基础数据维护、画像构建、推荐生成、解释反馈、透明链路和评估展示，能够支撑本地演示和论文中的工程验证。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325880"/>
            <a:ext cx="48920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325880"/>
            <a:ext cx="118872" cy="2971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490472"/>
            <a:ext cx="448056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19672" y="1920240"/>
            <a:ext cx="4480560" cy="22585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后续可扩大真实用户数据规模，引入更充分的在线反馈，继续调优场景权重，并在隐私保护和冷启动方面完善工程策略。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143000" y="4956048"/>
            <a:ext cx="9555480" cy="585216"/>
          </a:xfrm>
          <a:prstGeom prst="roundRect">
            <a:avLst>
              <a:gd name="adj" fmla="val 12500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5074920"/>
            <a:ext cx="909828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核心结论：本项目重点完成了“可运行、可解释、可复核”的校园推荐系统工程闭环。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46120" y="2148840"/>
            <a:ext cx="5440680" cy="6858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谢谢各位老师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794760" y="3090672"/>
            <a:ext cx="4343400" cy="4389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请批评指正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069080" y="4206240"/>
            <a:ext cx="352044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林乘吉  |  2026年6月</a:t>
            </a:r>
            <a:endParaRPr lang="en-US" sz="1800" dirty="0"/>
          </a:p>
        </p:txBody>
      </p:sp>
      <p:pic>
        <p:nvPicPr>
          <p:cNvPr id="7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5166360"/>
            <a:ext cx="315468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3334</Words>
  <Application>WPS 文字</Application>
  <PresentationFormat>On-screen Show (16:9)</PresentationFormat>
  <Paragraphs>489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北京交通大学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Spring Boot 的校园社交匹配与可解释推荐系统的设计与实现</dc:title>
  <dc:creator>Lin Chengji</dc:creator>
  <dc:subject>毕业设计答辩</dc:subject>
  <cp:lastModifiedBy>Codex</cp:lastModifiedBy>
  <cp:revision>3</cp:revision>
  <dcterms:created xsi:type="dcterms:W3CDTF">2026-06-05T14:21:09Z</dcterms:created>
  <dcterms:modified xsi:type="dcterms:W3CDTF">2026-06-05T14:21:09Z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E9B853F45C30874B2120216A775BD68F_42</vt:lpwstr>
  </property>
</Properties>
</file>